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8" r:id="rId5"/>
    <p:sldId id="269" r:id="rId6"/>
    <p:sldId id="270" r:id="rId7"/>
    <p:sldId id="271" r:id="rId8"/>
    <p:sldId id="272" r:id="rId9"/>
    <p:sldId id="260" r:id="rId10"/>
    <p:sldId id="273" r:id="rId11"/>
    <p:sldId id="266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DD6EA9-7E35-3D32-4192-B6BF0084F0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E01872-59A8-7F7C-96B5-E92F0F512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A031F0-52B5-430C-4A49-87539F949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7348-9803-4F22-8B3B-0FE5A814575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39C6F1-517C-D254-911B-79DEE8AFF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68999C-1609-2231-4E0B-E9A3909DB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4B5-B244-4113-90B3-9E270CED0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15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7E6E3-06D1-D01E-1632-B8F3D0A2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285FFF-5397-14E0-52D7-4FD0A9801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77B2F-E5FB-A4D9-48F3-0FF0688F0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7348-9803-4F22-8B3B-0FE5A814575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89A504-DE2C-1351-2C4A-83BDCD7D8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6D313C-71A4-B84C-44B2-00A5D519C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4B5-B244-4113-90B3-9E270CED0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10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7C49C-0068-CBCE-624C-F2233F493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2496E3-4459-8DA0-645F-007A548B5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5C34D9-313E-AED5-D410-286E16C04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7348-9803-4F22-8B3B-0FE5A814575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276C53-423D-1C16-C1BB-443D85C78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8E39EC-85E4-B349-F89C-41DAC8AED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4B5-B244-4113-90B3-9E270CED0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749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81B3A3-61F4-80A6-A6B9-A46113F8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6F2B75-05AC-3034-0A9B-302FCF618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CA6FD0-F25B-38C1-8EA9-37B3FFD94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3D3323-47B8-31F8-1424-0A24793F9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7348-9803-4F22-8B3B-0FE5A814575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8D63B1-F6B1-6351-282B-AB8DF52B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691AFE-56DE-DD56-A924-FF7AB90F7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4B5-B244-4113-90B3-9E270CED0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52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270014-584E-A503-C89E-BC4DB4145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FDFDEB-EE39-EB63-0B27-392AD9FCC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0092FB-E9B6-0FD6-0C1A-0781AAE1E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41B35A-304E-9BB2-51B6-72F1AC203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DDE094-EE16-7C75-3235-C61A620682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0A55A9-2099-C66A-A943-6FC3D3197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7348-9803-4F22-8B3B-0FE5A814575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46DB26-564E-BC6B-6B82-48CAD581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2A75B21-942C-8396-3C25-CEC2C2519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4B5-B244-4113-90B3-9E270CED0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37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355515-62F4-01A4-048D-AEA4E889E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8A9FE11-960F-E4FD-0A33-D920BF28F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7348-9803-4F22-8B3B-0FE5A814575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DA294E-A549-992A-1D73-69CA53F3A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9C2437-CE28-FAFB-D9B0-2295B2E4D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4B5-B244-4113-90B3-9E270CED0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134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80D1F7C-2265-79FF-DB39-320F3116F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7348-9803-4F22-8B3B-0FE5A814575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9BC1D1A-1CD4-D399-5AA0-17453AB5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84024A-5FA7-06C3-C603-051EBCB7C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4B5-B244-4113-90B3-9E270CED0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253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2A31E2-FD85-1367-4D01-5B029ED34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D0F2B8-E8C5-A5F8-6271-06D013BB9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075035-EF9F-2689-F9F7-086039290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C14582-2F54-594C-5D0B-142C5C04E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7348-9803-4F22-8B3B-0FE5A814575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2788E6-4C77-1AC3-EC03-C466B72B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34E7E5-686A-CE9B-81D2-6BECA975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4B5-B244-4113-90B3-9E270CED0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243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287BC-046D-704B-3FAE-696DD1547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559AF7E-C727-4FA4-30F2-57F4450983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78910C-717B-B5C0-C4B1-93AE9C32A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8D2433-90C1-1987-AF64-348630117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7348-9803-4F22-8B3B-0FE5A814575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3FEBFA-762D-2313-ECA1-D43599757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195A5A-7169-229A-7009-5B934D6F5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4B5-B244-4113-90B3-9E270CED0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51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22625-47A6-77C1-CBB9-6D8FED637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CB293D-7BF3-7F1B-0E3B-492505FE4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2E2E76-DD18-B30E-E95E-4F72812A1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7348-9803-4F22-8B3B-0FE5A814575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9B063-4D52-B59B-6DFA-D3DF2ED48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712F54-2CAD-2F67-148C-AD32A901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4B5-B244-4113-90B3-9E270CED0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109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0B11A3-86BE-C555-9B8E-6AFA09F70C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B95F78-CA49-9F19-8A35-486EC3CD1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EC7DE5-7C38-1446-18D6-EAD6AEB72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57348-9803-4F22-8B3B-0FE5A814575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D3C50D-70C6-2F9D-3990-662DBA3E7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FCD995-F055-91FF-2058-91A1D6FB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724B5-B244-4113-90B3-9E270CED0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828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54DD181-04F6-4133-CA5B-5B81E7920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00DB29-B6DA-7620-8590-97754C3B5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B5FC54-4574-8010-F8B7-83905E606A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657348-9803-4F22-8B3B-0FE5A814575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E13767-603D-917B-D704-59F900B6D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9504B6-F9B4-2EAC-8729-E0840FB95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724B5-B244-4113-90B3-9E270CED0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188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A28FC-DBEE-BC4F-B3DE-20844B36A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8529" y="975510"/>
            <a:ext cx="11014941" cy="1254049"/>
          </a:xfrm>
        </p:spPr>
        <p:txBody>
          <a:bodyPr>
            <a:noAutofit/>
          </a:bodyPr>
          <a:lstStyle/>
          <a:p>
            <a:r>
              <a:rPr lang="en-US" altLang="ko-KR" sz="4000" b="1" dirty="0"/>
              <a:t>Isaac Lab Ant </a:t>
            </a:r>
            <a:r>
              <a:rPr lang="ko-KR" altLang="en-US" sz="4000" b="1" dirty="0"/>
              <a:t>환경에서 </a:t>
            </a:r>
            <a:r>
              <a:rPr lang="en-US" altLang="ko-KR" sz="4000" b="1" dirty="0"/>
              <a:t>PPO </a:t>
            </a:r>
            <a:r>
              <a:rPr lang="ko-KR" altLang="en-US" sz="4000" b="1" dirty="0"/>
              <a:t>기반 보행 정책의 </a:t>
            </a:r>
            <a:r>
              <a:rPr lang="en-US" altLang="ko-KR" sz="4000" b="1" dirty="0"/>
              <a:t>Hyperparameter </a:t>
            </a:r>
            <a:r>
              <a:rPr lang="ko-KR" altLang="en-US" sz="4000" b="1" dirty="0"/>
              <a:t>및 보상 설계 분석</a:t>
            </a:r>
            <a:endParaRPr lang="ko-KR" altLang="en-US" sz="14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66FFE2A-3247-0584-7EC6-0340D328C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239" y="4423444"/>
            <a:ext cx="2987235" cy="1075790"/>
          </a:xfrm>
        </p:spPr>
        <p:txBody>
          <a:bodyPr>
            <a:normAutofit/>
          </a:bodyPr>
          <a:lstStyle/>
          <a:p>
            <a:pPr algn="l"/>
            <a:r>
              <a:rPr lang="ko-KR" altLang="en-US" sz="2000" dirty="0"/>
              <a:t>기계공학과</a:t>
            </a:r>
            <a:endParaRPr lang="en-US" altLang="ko-KR" sz="2000" dirty="0"/>
          </a:p>
          <a:p>
            <a:pPr algn="l"/>
            <a:r>
              <a:rPr lang="en-US" altLang="ko-KR" sz="2000" dirty="0"/>
              <a:t>120250372 </a:t>
            </a:r>
            <a:r>
              <a:rPr lang="ko-KR" altLang="en-US" sz="2000" dirty="0"/>
              <a:t>최은규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759BC5-1556-2FA5-AB4D-4844816A3838}"/>
              </a:ext>
            </a:extLst>
          </p:cNvPr>
          <p:cNvSpPr/>
          <p:nvPr/>
        </p:nvSpPr>
        <p:spPr>
          <a:xfrm>
            <a:off x="969818" y="709944"/>
            <a:ext cx="10252364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E044DF-FDC2-3E06-2C8B-D50A9307C3AE}"/>
              </a:ext>
            </a:extLst>
          </p:cNvPr>
          <p:cNvSpPr/>
          <p:nvPr/>
        </p:nvSpPr>
        <p:spPr>
          <a:xfrm>
            <a:off x="0" y="5242560"/>
            <a:ext cx="12192000" cy="16154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E0B4EFBF-176D-7C3A-8A16-EBAB386845D0}"/>
              </a:ext>
            </a:extLst>
          </p:cNvPr>
          <p:cNvSpPr txBox="1">
            <a:spLocks/>
          </p:cNvSpPr>
          <p:nvPr/>
        </p:nvSpPr>
        <p:spPr>
          <a:xfrm>
            <a:off x="9204765" y="4395688"/>
            <a:ext cx="2987235" cy="1075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2000" dirty="0"/>
              <a:t>기계공학과</a:t>
            </a:r>
            <a:endParaRPr lang="en-US" altLang="ko-KR" sz="2000" dirty="0"/>
          </a:p>
          <a:p>
            <a:pPr algn="l"/>
            <a:r>
              <a:rPr lang="en-US" altLang="ko-KR" sz="2000" dirty="0"/>
              <a:t>120251363 </a:t>
            </a:r>
            <a:r>
              <a:rPr lang="ko-KR" altLang="en-US" sz="2000" dirty="0"/>
              <a:t>서준호</a:t>
            </a:r>
          </a:p>
        </p:txBody>
      </p:sp>
    </p:spTree>
    <p:extLst>
      <p:ext uri="{BB962C8B-B14F-4D97-AF65-F5344CB8AC3E}">
        <p14:creationId xmlns:p14="http://schemas.microsoft.com/office/powerpoint/2010/main" val="2076314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DC2CA-9111-4CEC-B602-2C672D582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Topic and Goal/Detail</a:t>
            </a:r>
            <a:endParaRPr lang="ko-KR" altLang="en-US" sz="3600" dirty="0">
              <a:latin typeface="Cambria Math" panose="020405030504060302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E01B30-C350-E8FA-E86C-A2FF52F77385}"/>
              </a:ext>
            </a:extLst>
          </p:cNvPr>
          <p:cNvSpPr/>
          <p:nvPr/>
        </p:nvSpPr>
        <p:spPr>
          <a:xfrm>
            <a:off x="838200" y="1377801"/>
            <a:ext cx="4777839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F07BFFD-0865-4CDF-50C7-DE66CA240C95}"/>
              </a:ext>
            </a:extLst>
          </p:cNvPr>
          <p:cNvSpPr/>
          <p:nvPr/>
        </p:nvSpPr>
        <p:spPr>
          <a:xfrm>
            <a:off x="1078153" y="2147887"/>
            <a:ext cx="4297931" cy="447242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</a:rPr>
              <a:t>Isaac Lab</a:t>
            </a:r>
            <a:r>
              <a:rPr lang="ko-KR" altLang="en-US" sz="2400" b="1" dirty="0">
                <a:solidFill>
                  <a:schemeClr val="tx1"/>
                </a:solidFill>
              </a:rPr>
              <a:t>을 이용하여 </a:t>
            </a:r>
            <a:r>
              <a:rPr lang="en-US" altLang="ko-KR" sz="2400" b="1" dirty="0">
                <a:solidFill>
                  <a:schemeClr val="tx1"/>
                </a:solidFill>
              </a:rPr>
              <a:t>PPO(Proximal Policy Optimization) </a:t>
            </a:r>
          </a:p>
          <a:p>
            <a:pPr algn="ctr"/>
            <a:r>
              <a:rPr lang="ko-KR" altLang="en-US" sz="2400" b="1" dirty="0">
                <a:solidFill>
                  <a:schemeClr val="tx1"/>
                </a:solidFill>
              </a:rPr>
              <a:t>알고리즘을 이용해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2400" b="1" dirty="0">
                <a:solidFill>
                  <a:schemeClr val="tx1"/>
                </a:solidFill>
              </a:rPr>
              <a:t>자율 보행 정책 학습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038576F-25A8-DEE2-3658-DADDCCF41E66}"/>
              </a:ext>
            </a:extLst>
          </p:cNvPr>
          <p:cNvSpPr/>
          <p:nvPr/>
        </p:nvSpPr>
        <p:spPr>
          <a:xfrm>
            <a:off x="6096000" y="2286567"/>
            <a:ext cx="5855366" cy="16540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400" b="1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C154F77-A650-360D-1059-3980D85565D7}"/>
              </a:ext>
            </a:extLst>
          </p:cNvPr>
          <p:cNvSpPr/>
          <p:nvPr/>
        </p:nvSpPr>
        <p:spPr>
          <a:xfrm>
            <a:off x="2023961" y="1690688"/>
            <a:ext cx="2406316" cy="9144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</a:rPr>
              <a:t>Topic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5029911-45A8-0E8A-3BAC-1983CB9D6300}"/>
              </a:ext>
            </a:extLst>
          </p:cNvPr>
          <p:cNvSpPr/>
          <p:nvPr/>
        </p:nvSpPr>
        <p:spPr>
          <a:xfrm>
            <a:off x="7820523" y="1826055"/>
            <a:ext cx="2406316" cy="9144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tx1"/>
                </a:solidFill>
              </a:rPr>
              <a:t>Goal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7A128-215C-B1B2-773E-C60F3A652009}"/>
              </a:ext>
            </a:extLst>
          </p:cNvPr>
          <p:cNvSpPr txBox="1"/>
          <p:nvPr/>
        </p:nvSpPr>
        <p:spPr>
          <a:xfrm>
            <a:off x="6095999" y="2797669"/>
            <a:ext cx="5855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Reward </a:t>
            </a:r>
            <a:r>
              <a:rPr lang="ko-KR" altLang="en-US" sz="2000" b="1" dirty="0"/>
              <a:t>구성 및 </a:t>
            </a:r>
            <a:r>
              <a:rPr lang="en-US" altLang="ko-KR" sz="2000" b="1" dirty="0"/>
              <a:t>Hyperparameter </a:t>
            </a:r>
            <a:r>
              <a:rPr lang="ko-KR" altLang="en-US" sz="2000" b="1" dirty="0"/>
              <a:t>변화가 학습 안정성과 최종 보행 성능에 미치는 영향 분석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A5A520A-9185-97BD-96D7-5562356A4ADB}"/>
              </a:ext>
            </a:extLst>
          </p:cNvPr>
          <p:cNvSpPr/>
          <p:nvPr/>
        </p:nvSpPr>
        <p:spPr>
          <a:xfrm>
            <a:off x="6096000" y="4490193"/>
            <a:ext cx="5855368" cy="213011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40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7D99177-B4D9-88D1-9511-A3CAFE48AEAD}"/>
              </a:ext>
            </a:extLst>
          </p:cNvPr>
          <p:cNvSpPr/>
          <p:nvPr/>
        </p:nvSpPr>
        <p:spPr>
          <a:xfrm>
            <a:off x="7820523" y="4041445"/>
            <a:ext cx="2406316" cy="9144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</a:rPr>
              <a:t>Detail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93DB92-90F6-BFFC-266C-7184A1E56938}"/>
              </a:ext>
            </a:extLst>
          </p:cNvPr>
          <p:cNvSpPr txBox="1"/>
          <p:nvPr/>
        </p:nvSpPr>
        <p:spPr>
          <a:xfrm>
            <a:off x="6197599" y="4861659"/>
            <a:ext cx="585536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/>
              <a:t>기본 설정 정의</a:t>
            </a:r>
            <a:endParaRPr lang="en-US" altLang="ko-KR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/>
              <a:t>3~5</a:t>
            </a:r>
            <a:r>
              <a:rPr lang="ko-KR" altLang="en-US" sz="2000" b="1" dirty="0"/>
              <a:t>가지의 </a:t>
            </a:r>
            <a:r>
              <a:rPr lang="en-US" altLang="ko-KR" sz="2000" b="1" dirty="0"/>
              <a:t>hyperparameter/reward </a:t>
            </a:r>
            <a:br>
              <a:rPr lang="en-US" altLang="ko-KR" sz="2000" b="1" dirty="0"/>
            </a:br>
            <a:r>
              <a:rPr lang="ko-KR" altLang="en-US" sz="2000" b="1" dirty="0"/>
              <a:t>설정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바꾼 실험 설계</a:t>
            </a:r>
            <a:endParaRPr lang="en-US" altLang="ko-KR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/>
              <a:t>각 실험의 학습 곡선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최종 성능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안정성 비교</a:t>
            </a:r>
            <a:endParaRPr lang="en-US" altLang="ko-KR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/>
              <a:t>원인 해석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개선 방향 제시</a:t>
            </a:r>
          </a:p>
        </p:txBody>
      </p:sp>
    </p:spTree>
    <p:extLst>
      <p:ext uri="{BB962C8B-B14F-4D97-AF65-F5344CB8AC3E}">
        <p14:creationId xmlns:p14="http://schemas.microsoft.com/office/powerpoint/2010/main" val="1661431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AD637-947F-179A-48DE-6A58560E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Environment &amp; Dataset</a:t>
            </a:r>
            <a:endParaRPr lang="ko-KR" altLang="en-US" sz="3600" dirty="0">
              <a:latin typeface="Cambria Math" panose="020405030504060302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104D12-BDC2-14EF-FB66-F2627C1FFAC2}"/>
              </a:ext>
            </a:extLst>
          </p:cNvPr>
          <p:cNvSpPr/>
          <p:nvPr/>
        </p:nvSpPr>
        <p:spPr>
          <a:xfrm>
            <a:off x="838200" y="1308134"/>
            <a:ext cx="4777839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Picture 2" descr="Available Environments — Isaac Lab Documentation">
            <a:extLst>
              <a:ext uri="{FF2B5EF4-FFF2-40B4-BE49-F238E27FC236}">
                <a16:creationId xmlns:a16="http://schemas.microsoft.com/office/drawing/2014/main" id="{0439F2D1-73B3-F6BD-DF0E-5D11ABAA3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137" y="1360169"/>
            <a:ext cx="4359663" cy="272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8D8539-A33E-56C9-590A-F9B86B4D464B}"/>
              </a:ext>
            </a:extLst>
          </p:cNvPr>
          <p:cNvSpPr txBox="1"/>
          <p:nvPr/>
        </p:nvSpPr>
        <p:spPr>
          <a:xfrm>
            <a:off x="838200" y="2466539"/>
            <a:ext cx="481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NVIDIA Isaac Lab ver.</a:t>
            </a:r>
            <a:r>
              <a:rPr lang="ko-KR" altLang="en-US" dirty="0"/>
              <a:t> </a:t>
            </a:r>
            <a:r>
              <a:rPr lang="en-US" altLang="ko-KR" dirty="0"/>
              <a:t>2.0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82C9C-C337-5085-404E-147B2D2F7E3F}"/>
              </a:ext>
            </a:extLst>
          </p:cNvPr>
          <p:cNvSpPr txBox="1"/>
          <p:nvPr/>
        </p:nvSpPr>
        <p:spPr>
          <a:xfrm>
            <a:off x="838200" y="1960027"/>
            <a:ext cx="19111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Isaac Lab </a:t>
            </a:r>
            <a:r>
              <a:rPr lang="ko-KR" altLang="en-US" sz="2000" b="1" dirty="0"/>
              <a:t>환경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52B74B-E619-4CBB-45E6-9D0B7AC3DECC}"/>
              </a:ext>
            </a:extLst>
          </p:cNvPr>
          <p:cNvSpPr txBox="1"/>
          <p:nvPr/>
        </p:nvSpPr>
        <p:spPr>
          <a:xfrm>
            <a:off x="838200" y="3441032"/>
            <a:ext cx="2688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Ant locomotion task</a:t>
            </a:r>
            <a:endParaRPr lang="ko-KR" altLang="en-US" sz="2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D7449C-434A-14B9-B7C8-7732258EBE23}"/>
                  </a:ext>
                </a:extLst>
              </p:cNvPr>
              <p:cNvSpPr txBox="1"/>
              <p:nvPr/>
            </p:nvSpPr>
            <p:spPr>
              <a:xfrm>
                <a:off x="861402" y="3877171"/>
                <a:ext cx="699923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/>
                  <a:t>몸체 하나와 네 개의 다리</a:t>
                </a:r>
                <a:r>
                  <a:rPr lang="en-US" altLang="ko-KR" dirty="0"/>
                  <a:t>(4</a:t>
                </a:r>
                <a:r>
                  <a:rPr lang="ko-KR" altLang="en-US" dirty="0"/>
                  <a:t>족 보행 로봇</a:t>
                </a:r>
                <a:r>
                  <a:rPr lang="en-US" altLang="ko-KR" dirty="0"/>
                  <a:t>)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endParaRPr lang="en-US" altLang="ko-KR" dirty="0"/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/>
                  <a:t>다리 당 </a:t>
                </a:r>
                <a:r>
                  <a:rPr lang="en-US" altLang="ko-KR" dirty="0"/>
                  <a:t>2 </a:t>
                </a:r>
                <a:r>
                  <a:rPr lang="ko-KR" altLang="en-US" dirty="0"/>
                  <a:t>관절 </a:t>
                </a:r>
                <a:r>
                  <a:rPr lang="en-US" altLang="ko-KR" dirty="0"/>
                  <a:t>ⅹ 4 = 8</a:t>
                </a:r>
                <a:r>
                  <a:rPr lang="ko-KR" altLang="en-US" dirty="0"/>
                  <a:t>개의 구동 관절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endParaRPr lang="en-US" altLang="ko-KR" dirty="0"/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/>
                  <a:t>위치 </a:t>
                </a:r>
                <a:r>
                  <a:rPr lang="en-US" altLang="ko-KR" dirty="0"/>
                  <a:t>3</a:t>
                </a:r>
                <a:r>
                  <a:rPr lang="ko-KR" altLang="en-US" dirty="0"/>
                  <a:t>자유도</a:t>
                </a:r>
                <a:r>
                  <a:rPr lang="en-US" altLang="ko-KR" dirty="0"/>
                  <a:t>(x, y, z) + </a:t>
                </a:r>
                <a:r>
                  <a:rPr lang="ko-KR" altLang="en-US" dirty="0"/>
                  <a:t>자세 </a:t>
                </a:r>
                <a:r>
                  <a:rPr lang="en-US" altLang="ko-KR" dirty="0"/>
                  <a:t>3</a:t>
                </a:r>
                <a:r>
                  <a:rPr lang="ko-KR" altLang="en-US" dirty="0"/>
                  <a:t>자유도</a:t>
                </a:r>
                <a:r>
                  <a:rPr lang="en-US" altLang="ko-KR" dirty="0"/>
                  <a:t>(roll, pitch, yaw) = 6</a:t>
                </a:r>
                <a:r>
                  <a:rPr lang="ko-KR" altLang="en-US" dirty="0"/>
                  <a:t>자유도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endParaRPr lang="en-US" altLang="ko-KR" dirty="0"/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/>
                  <a:t>중력 가속도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 =−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81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ko-KR" alt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D7449C-434A-14B9-B7C8-7732258EB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02" y="3877171"/>
                <a:ext cx="6999230" cy="2031325"/>
              </a:xfrm>
              <a:prstGeom prst="rect">
                <a:avLst/>
              </a:prstGeom>
              <a:blipFill>
                <a:blip r:embed="rId3"/>
                <a:stretch>
                  <a:fillRect l="-523" t="-1502" r="-610" b="-39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9609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5AE33-98B4-394A-C71A-C338AA317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7AD2F9-04D1-F065-9389-7B8B18573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Collect Data &amp; Structure</a:t>
            </a:r>
            <a:endParaRPr lang="ko-KR" altLang="en-US" sz="3600" dirty="0">
              <a:latin typeface="Cambria Math" panose="020405030504060302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520600-E238-F984-5D8A-8D26ACF9ECD4}"/>
              </a:ext>
            </a:extLst>
          </p:cNvPr>
          <p:cNvSpPr/>
          <p:nvPr/>
        </p:nvSpPr>
        <p:spPr>
          <a:xfrm>
            <a:off x="838200" y="1308134"/>
            <a:ext cx="4777839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D37898-1A0C-BE46-93C7-713D473860F4}"/>
              </a:ext>
            </a:extLst>
          </p:cNvPr>
          <p:cNvSpPr txBox="1"/>
          <p:nvPr/>
        </p:nvSpPr>
        <p:spPr>
          <a:xfrm>
            <a:off x="838200" y="1960027"/>
            <a:ext cx="13801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Transition</a:t>
            </a:r>
            <a:endParaRPr lang="ko-KR" alt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4B2475-C13A-44B3-DDC9-0B9F71BA54DD}"/>
              </a:ext>
            </a:extLst>
          </p:cNvPr>
          <p:cNvSpPr txBox="1"/>
          <p:nvPr/>
        </p:nvSpPr>
        <p:spPr>
          <a:xfrm>
            <a:off x="838200" y="3441032"/>
            <a:ext cx="86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Batch</a:t>
            </a:r>
            <a:endParaRPr lang="ko-KR" altLang="en-US" sz="2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D4A42D-0AAF-404E-3350-0080A1DF4CB0}"/>
                  </a:ext>
                </a:extLst>
              </p:cNvPr>
              <p:cNvSpPr txBox="1"/>
              <p:nvPr/>
            </p:nvSpPr>
            <p:spPr>
              <a:xfrm>
                <a:off x="4887251" y="1726717"/>
                <a:ext cx="1981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D4A42D-0AAF-404E-3350-0080A1DF4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251" y="1726717"/>
                <a:ext cx="1981504" cy="369332"/>
              </a:xfrm>
              <a:prstGeom prst="rect">
                <a:avLst/>
              </a:prstGeom>
              <a:blipFill>
                <a:blip r:embed="rId2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CC40CA-BC45-3BE8-40E1-97BDCE83EB75}"/>
                  </a:ext>
                </a:extLst>
              </p:cNvPr>
              <p:cNvSpPr txBox="1"/>
              <p:nvPr/>
            </p:nvSpPr>
            <p:spPr>
              <a:xfrm>
                <a:off x="817298" y="2521338"/>
                <a:ext cx="3186706" cy="3763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시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점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에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서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의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상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태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관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측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값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CC40CA-BC45-3BE8-40E1-97BDCE83E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98" y="2521338"/>
                <a:ext cx="3186706" cy="376385"/>
              </a:xfrm>
              <a:prstGeom prst="rect">
                <a:avLst/>
              </a:prstGeom>
              <a:blipFill>
                <a:blip r:embed="rId3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7F14B28-B2D7-9560-EA39-4FF515B1CA3F}"/>
                  </a:ext>
                </a:extLst>
              </p:cNvPr>
              <p:cNvSpPr txBox="1"/>
              <p:nvPr/>
            </p:nvSpPr>
            <p:spPr>
              <a:xfrm>
                <a:off x="817298" y="2970210"/>
                <a:ext cx="3434337" cy="3776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𝑝𝑜𝑙𝑖𝑐𝑦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가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력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한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연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속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𝑎𝑐𝑡𝑖𝑜𝑛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7F14B28-B2D7-9560-EA39-4FF515B1C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98" y="2970210"/>
                <a:ext cx="3434337" cy="377604"/>
              </a:xfrm>
              <a:prstGeom prst="rect">
                <a:avLst/>
              </a:prstGeom>
              <a:blipFill>
                <a:blip r:embed="rId4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9A3932-E450-E967-7F86-2A0FE313CF2A}"/>
                  </a:ext>
                </a:extLst>
              </p:cNvPr>
              <p:cNvSpPr txBox="1"/>
              <p:nvPr/>
            </p:nvSpPr>
            <p:spPr>
              <a:xfrm>
                <a:off x="4760783" y="2447447"/>
                <a:ext cx="3753976" cy="374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해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당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스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텝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에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서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의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𝑠𝑐𝑎𝑙𝑎𝑟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𝑟𝑒𝑤𝑎𝑟𝑑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9A3932-E450-E967-7F86-2A0FE313C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783" y="2447447"/>
                <a:ext cx="3753976" cy="374526"/>
              </a:xfrm>
              <a:prstGeom prst="rect">
                <a:avLst/>
              </a:prstGeom>
              <a:blipFill>
                <a:blip r:embed="rId5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376F7F-24F0-BF8E-C621-68BCFE61C2B4}"/>
                  </a:ext>
                </a:extLst>
              </p:cNvPr>
              <p:cNvSpPr txBox="1"/>
              <p:nvPr/>
            </p:nvSpPr>
            <p:spPr>
              <a:xfrm>
                <a:off x="4760783" y="2970210"/>
                <a:ext cx="3258008" cy="3763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다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음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시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점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의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상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태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관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측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값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376F7F-24F0-BF8E-C621-68BCFE61C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783" y="2970210"/>
                <a:ext cx="3258008" cy="376385"/>
              </a:xfrm>
              <a:prstGeom prst="rect">
                <a:avLst/>
              </a:prstGeom>
              <a:blipFill>
                <a:blip r:embed="rId6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86C5C0-0148-4073-7F8D-5C7E44CBA566}"/>
                  </a:ext>
                </a:extLst>
              </p:cNvPr>
              <p:cNvSpPr txBox="1"/>
              <p:nvPr/>
            </p:nvSpPr>
            <p:spPr>
              <a:xfrm>
                <a:off x="8797074" y="2521338"/>
                <a:ext cx="2556726" cy="374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에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피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소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드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종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료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여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부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86C5C0-0148-4073-7F8D-5C7E44CBA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074" y="2521338"/>
                <a:ext cx="2556726" cy="374526"/>
              </a:xfrm>
              <a:prstGeom prst="rect">
                <a:avLst/>
              </a:prstGeom>
              <a:blipFill>
                <a:blip r:embed="rId7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A153DD-DF5A-9EC5-32BD-270A2961260C}"/>
                  </a:ext>
                </a:extLst>
              </p:cNvPr>
              <p:cNvSpPr txBox="1"/>
              <p:nvPr/>
            </p:nvSpPr>
            <p:spPr>
              <a:xfrm>
                <a:off x="817298" y="3841142"/>
                <a:ext cx="20833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𝑛𝑢𝑚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𝑒𝑛𝑣𝑠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4096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A153DD-DF5A-9EC5-32BD-270A29612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98" y="3841142"/>
                <a:ext cx="208332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BC4E5C07-8644-E131-AD8D-BBCFCFE1DC18}"/>
              </a:ext>
            </a:extLst>
          </p:cNvPr>
          <p:cNvSpPr txBox="1"/>
          <p:nvPr/>
        </p:nvSpPr>
        <p:spPr>
          <a:xfrm>
            <a:off x="841727" y="4503747"/>
            <a:ext cx="2753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데이터 </a:t>
            </a:r>
            <a:r>
              <a:rPr lang="en-US" altLang="ko-KR" sz="2000" b="1" dirty="0"/>
              <a:t>preprocessing</a:t>
            </a:r>
            <a:endParaRPr lang="ko-KR" altLang="en-US" sz="2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B4FEB6-9DFB-03AA-41F4-B996AC8306EC}"/>
              </a:ext>
            </a:extLst>
          </p:cNvPr>
          <p:cNvSpPr txBox="1"/>
          <p:nvPr/>
        </p:nvSpPr>
        <p:spPr>
          <a:xfrm>
            <a:off x="838200" y="4972379"/>
            <a:ext cx="4937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관측 값</a:t>
            </a:r>
            <a:r>
              <a:rPr lang="en-US" altLang="ko-KR" dirty="0"/>
              <a:t>, reward</a:t>
            </a:r>
            <a:r>
              <a:rPr lang="ko-KR" altLang="en-US" dirty="0"/>
              <a:t>는 </a:t>
            </a:r>
            <a:r>
              <a:rPr lang="en-US" altLang="ko-KR" dirty="0"/>
              <a:t>Isaac Lab </a:t>
            </a:r>
            <a:r>
              <a:rPr lang="ko-KR" altLang="en-US" dirty="0"/>
              <a:t>기본 스케일 사용</a:t>
            </a:r>
          </a:p>
        </p:txBody>
      </p:sp>
    </p:spTree>
    <p:extLst>
      <p:ext uri="{BB962C8B-B14F-4D97-AF65-F5344CB8AC3E}">
        <p14:creationId xmlns:p14="http://schemas.microsoft.com/office/powerpoint/2010/main" val="469904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14B93-DC6E-7129-3669-3CD311BEC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FD16EE-09FC-B56D-7F13-3986A593E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State, Action, Reward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3244D3-1468-0CF0-AC4E-A32909E600BD}"/>
              </a:ext>
            </a:extLst>
          </p:cNvPr>
          <p:cNvSpPr/>
          <p:nvPr/>
        </p:nvSpPr>
        <p:spPr>
          <a:xfrm>
            <a:off x="838200" y="1308134"/>
            <a:ext cx="4777839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ADF0BF-1801-F7EF-9CE4-96EC81BB1F5D}"/>
              </a:ext>
            </a:extLst>
          </p:cNvPr>
          <p:cNvSpPr txBox="1"/>
          <p:nvPr/>
        </p:nvSpPr>
        <p:spPr>
          <a:xfrm>
            <a:off x="838200" y="1960027"/>
            <a:ext cx="798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State</a:t>
            </a:r>
            <a:endParaRPr lang="ko-KR" altLang="en-US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0E73B5-691E-37CB-3EEB-E2DB4CB4B917}"/>
              </a:ext>
            </a:extLst>
          </p:cNvPr>
          <p:cNvSpPr txBox="1"/>
          <p:nvPr/>
        </p:nvSpPr>
        <p:spPr>
          <a:xfrm>
            <a:off x="838200" y="2629476"/>
            <a:ext cx="87628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1" dirty="0"/>
              <a:t>로봇 몸체</a:t>
            </a:r>
            <a:r>
              <a:rPr lang="en-US" altLang="ko-KR" b="1" dirty="0"/>
              <a:t>(base)</a:t>
            </a:r>
            <a:r>
              <a:rPr lang="ko-KR" altLang="en-US" b="1" dirty="0"/>
              <a:t>의 자세와 속도 정보</a:t>
            </a:r>
            <a:br>
              <a:rPr lang="en-US" altLang="ko-KR" dirty="0"/>
            </a:br>
            <a:r>
              <a:rPr lang="ko-KR" altLang="en-US" dirty="0"/>
              <a:t>기준 좌표계에서 몸체의 기울기 </a:t>
            </a:r>
            <a:r>
              <a:rPr lang="en-US" altLang="ko-KR" dirty="0"/>
              <a:t>(Roll, Pitch, Yaw)/ </a:t>
            </a:r>
            <a:r>
              <a:rPr lang="ko-KR" altLang="en-US" dirty="0"/>
              <a:t>몸체의 </a:t>
            </a:r>
            <a:r>
              <a:rPr lang="en-US" altLang="ko-KR" dirty="0"/>
              <a:t>Velocity, Acceleration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Joint</a:t>
            </a:r>
            <a:r>
              <a:rPr lang="ko-KR" altLang="en-US" b="1" dirty="0"/>
              <a:t> 상태</a:t>
            </a:r>
            <a:br>
              <a:rPr lang="en-US" altLang="ko-KR" dirty="0"/>
            </a:br>
            <a:r>
              <a:rPr lang="ko-KR" altLang="en-US" dirty="0"/>
              <a:t>각 관절의 위치</a:t>
            </a:r>
            <a:r>
              <a:rPr lang="en-US" altLang="ko-KR" dirty="0"/>
              <a:t>, </a:t>
            </a:r>
            <a:r>
              <a:rPr lang="ko-KR" altLang="en-US" dirty="0"/>
              <a:t>각속도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1" dirty="0"/>
              <a:t>접촉 정보</a:t>
            </a:r>
            <a:br>
              <a:rPr lang="en-US" altLang="ko-KR" dirty="0"/>
            </a:br>
            <a:r>
              <a:rPr lang="ko-KR" altLang="en-US" dirty="0"/>
              <a:t>발끝이 지면에 닿아 있는지 여부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1" dirty="0"/>
              <a:t>목표 관련 정보</a:t>
            </a:r>
            <a:br>
              <a:rPr lang="en-US" altLang="ko-KR" dirty="0"/>
            </a:br>
            <a:r>
              <a:rPr lang="ko-KR" altLang="en-US" dirty="0"/>
              <a:t>목표 진행 방향 </a:t>
            </a:r>
            <a:r>
              <a:rPr lang="en-US" altLang="ko-KR" dirty="0"/>
              <a:t>(x</a:t>
            </a:r>
            <a:r>
              <a:rPr lang="ko-KR" altLang="en-US" dirty="0"/>
              <a:t>축 전진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69785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54B8C-AEBF-A032-2969-E7C3C6192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EFD1D4-20F8-7DC4-BCA5-514EB3AF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State, Action, Reward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2456E4-22DE-94F6-C50F-F498D5708913}"/>
              </a:ext>
            </a:extLst>
          </p:cNvPr>
          <p:cNvSpPr/>
          <p:nvPr/>
        </p:nvSpPr>
        <p:spPr>
          <a:xfrm>
            <a:off x="838200" y="1308134"/>
            <a:ext cx="4777839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8D28D4-BFEE-04B5-115C-A6D9F96B3ED7}"/>
              </a:ext>
            </a:extLst>
          </p:cNvPr>
          <p:cNvSpPr txBox="1"/>
          <p:nvPr/>
        </p:nvSpPr>
        <p:spPr>
          <a:xfrm>
            <a:off x="838200" y="1960027"/>
            <a:ext cx="9733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066256-69DC-701E-0B3F-7ABC7AC8039B}"/>
              </a:ext>
            </a:extLst>
          </p:cNvPr>
          <p:cNvSpPr txBox="1"/>
          <p:nvPr/>
        </p:nvSpPr>
        <p:spPr>
          <a:xfrm>
            <a:off x="838200" y="2629476"/>
            <a:ext cx="87628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총 관절 수</a:t>
            </a:r>
            <a:r>
              <a:rPr lang="en-US" altLang="ko-KR" dirty="0"/>
              <a:t>: 8</a:t>
            </a:r>
            <a:r>
              <a:rPr lang="ko-KR" altLang="en-US" dirty="0"/>
              <a:t>개의 구동 관절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Action </a:t>
            </a:r>
            <a:r>
              <a:rPr lang="ko-KR" altLang="en-US" dirty="0"/>
              <a:t>벡터 차원수</a:t>
            </a:r>
            <a:r>
              <a:rPr lang="en-US" altLang="ko-KR" dirty="0"/>
              <a:t>: 8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1" dirty="0"/>
              <a:t>관절 목표 위치 </a:t>
            </a:r>
            <a:r>
              <a:rPr lang="en-US" altLang="ko-KR" b="1" dirty="0"/>
              <a:t>Offset</a:t>
            </a:r>
            <a:br>
              <a:rPr lang="en-US" altLang="ko-KR" b="1" dirty="0"/>
            </a:br>
            <a:r>
              <a:rPr lang="en-US" altLang="ko-KR" dirty="0"/>
              <a:t>Action</a:t>
            </a:r>
            <a:r>
              <a:rPr lang="ko-KR" altLang="en-US" dirty="0"/>
              <a:t>을 </a:t>
            </a:r>
            <a:r>
              <a:rPr lang="en-US" altLang="ko-KR" dirty="0"/>
              <a:t>[-1,1] </a:t>
            </a:r>
            <a:r>
              <a:rPr lang="ko-KR" altLang="en-US" dirty="0"/>
              <a:t>범위로 두고 내부에서 실제 각도 범위로 </a:t>
            </a:r>
            <a:r>
              <a:rPr lang="ko-KR" altLang="en-US" dirty="0" err="1"/>
              <a:t>스케일링하여</a:t>
            </a:r>
            <a:r>
              <a:rPr lang="ko-KR" altLang="en-US" dirty="0"/>
              <a:t> </a:t>
            </a:r>
            <a:r>
              <a:rPr lang="en-US" altLang="ko-KR" dirty="0"/>
              <a:t>PD</a:t>
            </a:r>
            <a:r>
              <a:rPr lang="ko-KR" altLang="en-US" dirty="0"/>
              <a:t>제어기의 목표 위치로 사용</a:t>
            </a: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1" dirty="0"/>
              <a:t>관절 목표 속도</a:t>
            </a:r>
            <a:br>
              <a:rPr lang="en-US" altLang="ko-KR" b="1" dirty="0"/>
            </a:br>
            <a:r>
              <a:rPr lang="en-US" altLang="ko-KR" dirty="0"/>
              <a:t>Action</a:t>
            </a:r>
            <a:r>
              <a:rPr lang="ko-KR" altLang="en-US" dirty="0"/>
              <a:t>을 목표 속도로 해석하고</a:t>
            </a:r>
            <a:r>
              <a:rPr lang="en-US" altLang="ko-KR" dirty="0"/>
              <a:t>, </a:t>
            </a:r>
            <a:r>
              <a:rPr lang="ko-KR" altLang="en-US" dirty="0"/>
              <a:t>속도 제어기를 통해 </a:t>
            </a:r>
            <a:r>
              <a:rPr lang="en-US" altLang="ko-KR" dirty="0"/>
              <a:t>Torque </a:t>
            </a:r>
            <a:r>
              <a:rPr lang="ko-KR" altLang="en-US" dirty="0"/>
              <a:t>생성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1" dirty="0"/>
              <a:t>직접 토크 명령</a:t>
            </a:r>
            <a:br>
              <a:rPr lang="en-US" altLang="ko-KR" b="1" dirty="0"/>
            </a:br>
            <a:r>
              <a:rPr lang="en-US" altLang="ko-KR" dirty="0"/>
              <a:t>Action</a:t>
            </a:r>
            <a:r>
              <a:rPr lang="ko-KR" altLang="en-US" dirty="0"/>
              <a:t>을 최대 토크에 대한 비율로 사용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882846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B052D-B50C-4BDD-9538-8FF4BA2BD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04833-6007-6D03-981E-9EFCE5164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State, Action, Reward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70E4A3-5BC8-D06A-7492-568FCF71D847}"/>
              </a:ext>
            </a:extLst>
          </p:cNvPr>
          <p:cNvSpPr/>
          <p:nvPr/>
        </p:nvSpPr>
        <p:spPr>
          <a:xfrm>
            <a:off x="838200" y="1308134"/>
            <a:ext cx="4777839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426555-9FF1-A565-9936-718470682DE3}"/>
              </a:ext>
            </a:extLst>
          </p:cNvPr>
          <p:cNvSpPr txBox="1"/>
          <p:nvPr/>
        </p:nvSpPr>
        <p:spPr>
          <a:xfrm>
            <a:off x="838200" y="1559917"/>
            <a:ext cx="1090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Reward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ADC91C-EA67-21A7-38F2-D3C01F24A169}"/>
              </a:ext>
            </a:extLst>
          </p:cNvPr>
          <p:cNvSpPr txBox="1"/>
          <p:nvPr/>
        </p:nvSpPr>
        <p:spPr>
          <a:xfrm>
            <a:off x="838200" y="1960027"/>
            <a:ext cx="87628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Progress:</a:t>
            </a:r>
            <a:br>
              <a:rPr lang="en-US" altLang="ko-KR" b="1" dirty="0"/>
            </a:br>
            <a:r>
              <a:rPr lang="en-US" altLang="ko-KR" dirty="0"/>
              <a:t>x</a:t>
            </a:r>
            <a:r>
              <a:rPr lang="ko-KR" altLang="en-US" dirty="0"/>
              <a:t>축 방향으로 얼마나 전진하였는지에 대한 보상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 err="1"/>
              <a:t>Move_to_target</a:t>
            </a:r>
            <a:r>
              <a:rPr lang="en-US" altLang="ko-KR" b="1" dirty="0"/>
              <a:t>:</a:t>
            </a:r>
            <a:br>
              <a:rPr lang="en-US" altLang="ko-KR" b="1" dirty="0"/>
            </a:br>
            <a:r>
              <a:rPr lang="ko-KR" altLang="en-US" dirty="0"/>
              <a:t>정해진 </a:t>
            </a:r>
            <a:r>
              <a:rPr lang="en-US" altLang="ko-KR" dirty="0"/>
              <a:t>Target </a:t>
            </a:r>
            <a:r>
              <a:rPr lang="ko-KR" altLang="en-US" dirty="0"/>
              <a:t>방향으로 이동하는 정도에 대한 보상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Upright:</a:t>
            </a:r>
            <a:br>
              <a:rPr lang="en-US" altLang="ko-KR" b="1" dirty="0"/>
            </a:br>
            <a:r>
              <a:rPr lang="ko-KR" altLang="en-US" dirty="0"/>
              <a:t>몸체의 기울기</a:t>
            </a:r>
            <a:r>
              <a:rPr lang="en-US" altLang="ko-KR" dirty="0"/>
              <a:t>(</a:t>
            </a:r>
            <a:r>
              <a:rPr lang="en-US" altLang="ko-KR" dirty="0" err="1"/>
              <a:t>roll,pitch</a:t>
            </a:r>
            <a:r>
              <a:rPr lang="en-US" altLang="ko-KR" dirty="0"/>
              <a:t>)</a:t>
            </a:r>
            <a:r>
              <a:rPr lang="ko-KR" altLang="en-US" dirty="0"/>
              <a:t>가 적을수록 큰 보상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Alive:</a:t>
            </a:r>
            <a:br>
              <a:rPr lang="en-US" altLang="ko-KR" b="1" dirty="0"/>
            </a:br>
            <a:r>
              <a:rPr lang="ko-KR" altLang="en-US" dirty="0"/>
              <a:t>에피소드가 끝나지 않고 </a:t>
            </a:r>
            <a:r>
              <a:rPr lang="en-US" altLang="ko-KR" dirty="0"/>
              <a:t>“</a:t>
            </a:r>
            <a:r>
              <a:rPr lang="ko-KR" altLang="en-US" dirty="0"/>
              <a:t>살아 있는</a:t>
            </a:r>
            <a:r>
              <a:rPr lang="en-US" altLang="ko-KR" dirty="0"/>
              <a:t>“ </a:t>
            </a:r>
            <a:r>
              <a:rPr lang="ko-KR" altLang="en-US" dirty="0"/>
              <a:t>모든 </a:t>
            </a:r>
            <a:r>
              <a:rPr lang="en-US" altLang="ko-KR" dirty="0"/>
              <a:t>Step</a:t>
            </a:r>
            <a:r>
              <a:rPr lang="ko-KR" altLang="en-US" dirty="0"/>
              <a:t>에 대해 일정한 양의 보상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Actionl2:</a:t>
            </a:r>
            <a:br>
              <a:rPr lang="en-US" altLang="ko-KR" b="1" dirty="0"/>
            </a:br>
            <a:r>
              <a:rPr lang="ko-KR" altLang="en-US" dirty="0"/>
              <a:t>정책이 출력한 액션의 </a:t>
            </a:r>
            <a:r>
              <a:rPr lang="en-US" altLang="ko-KR" dirty="0"/>
              <a:t>L2 </a:t>
            </a:r>
            <a:r>
              <a:rPr lang="ko-KR" altLang="en-US" dirty="0"/>
              <a:t>제곱에 비례하여 벌점 부여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Energy:</a:t>
            </a:r>
            <a:br>
              <a:rPr lang="en-US" altLang="ko-KR" b="1" dirty="0"/>
            </a:br>
            <a:r>
              <a:rPr lang="ko-KR" altLang="en-US" dirty="0"/>
              <a:t>실제 물리적인 에너지 소비를 기반으로 한 에너지 사용 벌점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795122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E426F-2629-DE63-B19A-73AD740B7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BC2DD2-FD84-B4C1-EEB8-16FD5477C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PPO: Proximal Policy Optimization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937416-85D8-E06B-10A7-2BD69F2D942F}"/>
              </a:ext>
            </a:extLst>
          </p:cNvPr>
          <p:cNvSpPr/>
          <p:nvPr/>
        </p:nvSpPr>
        <p:spPr>
          <a:xfrm flipV="1">
            <a:off x="838200" y="1262415"/>
            <a:ext cx="6978650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F11C4F-364A-8FEF-1CB3-385A55CEC195}"/>
              </a:ext>
            </a:extLst>
          </p:cNvPr>
          <p:cNvSpPr txBox="1"/>
          <p:nvPr/>
        </p:nvSpPr>
        <p:spPr>
          <a:xfrm>
            <a:off x="838200" y="1559917"/>
            <a:ext cx="2063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What is a PPO?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317262-CBD1-D3C2-3E3E-03ED34EA03F4}"/>
                  </a:ext>
                </a:extLst>
              </p:cNvPr>
              <p:cNvSpPr txBox="1"/>
              <p:nvPr/>
            </p:nvSpPr>
            <p:spPr>
              <a:xfrm>
                <a:off x="838200" y="1960027"/>
                <a:ext cx="1080836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/>
                  <a:t>현재 정책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dirty="0"/>
                  <a:t>를 이용하여 여러 개의 병렬 환경에서 일정 길이의 </a:t>
                </a:r>
                <a:r>
                  <a:rPr lang="en-US" altLang="ko-KR" dirty="0"/>
                  <a:t>rollout</a:t>
                </a:r>
                <a:r>
                  <a:rPr lang="ko-KR" altLang="en-US" dirty="0"/>
                  <a:t>을 수집한다</a:t>
                </a:r>
                <a:r>
                  <a:rPr lang="en-US" altLang="ko-KR" dirty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/>
                  <a:t>수집된 </a:t>
                </a:r>
                <a:r>
                  <a:rPr lang="en-US" altLang="ko-KR" dirty="0"/>
                  <a:t>Transition</a:t>
                </a:r>
                <a:r>
                  <a:rPr lang="ko-KR" altLang="en-US" dirty="0"/>
                  <a:t>으로부터 </a:t>
                </a:r>
                <a:r>
                  <a:rPr lang="en-US" altLang="ko-KR" dirty="0"/>
                  <a:t>Advantage</a:t>
                </a:r>
                <a:r>
                  <a:rPr lang="ko-KR" altLang="en-US" dirty="0"/>
                  <a:t>를 </a:t>
                </a:r>
                <a:r>
                  <a:rPr lang="en-US" altLang="ko-KR" dirty="0"/>
                  <a:t>Generalized Advantage Estimation(GAE)</a:t>
                </a:r>
                <a:r>
                  <a:rPr lang="ko-KR" altLang="en-US" dirty="0"/>
                  <a:t>을 통해 계산한다</a:t>
                </a:r>
                <a:r>
                  <a:rPr lang="en-US" altLang="ko-KR" dirty="0"/>
                  <a:t>.</a:t>
                </a:r>
                <a:endParaRPr lang="ko-KR" altLang="en-US" dirty="0"/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altLang="ko-KR" dirty="0"/>
                  <a:t>Advantage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Return</a:t>
                </a:r>
                <a:r>
                  <a:rPr lang="ko-KR" altLang="en-US" dirty="0"/>
                  <a:t>을 이용해 정책 파라미터 </a:t>
                </a:r>
                <a:r>
                  <a:rPr lang="en-US" altLang="ko-KR" dirty="0"/>
                  <a:t>θ</a:t>
                </a:r>
                <a:r>
                  <a:rPr lang="ko-KR" altLang="en-US" dirty="0"/>
                  <a:t>와 가치함수 파라미터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ko-KR" altLang="en-US" dirty="0"/>
                  <a:t>를 동시에 업데이트한다</a:t>
                </a:r>
                <a:r>
                  <a:rPr lang="en-US" altLang="ko-KR" dirty="0"/>
                  <a:t>.</a:t>
                </a:r>
                <a:endParaRPr lang="ko-KR" altLang="en-US" dirty="0"/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/>
                  <a:t>이 과정을 여러 </a:t>
                </a:r>
                <a:r>
                  <a:rPr lang="en-US" altLang="ko-KR" dirty="0"/>
                  <a:t>iteration </a:t>
                </a:r>
                <a:r>
                  <a:rPr lang="ko-KR" altLang="en-US" dirty="0"/>
                  <a:t>동안 반복하면서 정책을 점진적으로 개선한다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317262-CBD1-D3C2-3E3E-03ED34EA0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60027"/>
                <a:ext cx="10808368" cy="1200329"/>
              </a:xfrm>
              <a:prstGeom prst="rect">
                <a:avLst/>
              </a:prstGeom>
              <a:blipFill>
                <a:blip r:embed="rId2"/>
                <a:stretch>
                  <a:fillRect l="-395" t="-3061" b="-76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660F09F-B747-FBCA-98E2-C2FBCC3E123D}"/>
              </a:ext>
            </a:extLst>
          </p:cNvPr>
          <p:cNvSpPr txBox="1"/>
          <p:nvPr/>
        </p:nvSpPr>
        <p:spPr>
          <a:xfrm>
            <a:off x="838200" y="3429000"/>
            <a:ext cx="39071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Actor Critic Network 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74A175-15E4-5FD0-DA56-D10679E321F1}"/>
              </a:ext>
            </a:extLst>
          </p:cNvPr>
          <p:cNvSpPr txBox="1"/>
          <p:nvPr/>
        </p:nvSpPr>
        <p:spPr>
          <a:xfrm>
            <a:off x="838200" y="3829110"/>
            <a:ext cx="2073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/>
              <a:t>Actor </a:t>
            </a:r>
            <a:r>
              <a:rPr lang="ko-KR" altLang="en-US" b="1" dirty="0"/>
              <a:t>네트워크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17321E-2B1E-24FC-5190-3DC6D21E9E0C}"/>
              </a:ext>
            </a:extLst>
          </p:cNvPr>
          <p:cNvSpPr txBox="1"/>
          <p:nvPr/>
        </p:nvSpPr>
        <p:spPr>
          <a:xfrm>
            <a:off x="7017328" y="3829110"/>
            <a:ext cx="2046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/>
              <a:t>Critic </a:t>
            </a:r>
            <a:r>
              <a:rPr lang="ko-KR" altLang="en-US" b="1" dirty="0"/>
              <a:t>네트워크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BE11B0-062B-ED12-13A4-A7F9874725D2}"/>
              </a:ext>
            </a:extLst>
          </p:cNvPr>
          <p:cNvSpPr txBox="1"/>
          <p:nvPr/>
        </p:nvSpPr>
        <p:spPr>
          <a:xfrm>
            <a:off x="1041399" y="4339173"/>
            <a:ext cx="2847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입력</a:t>
            </a:r>
            <a:r>
              <a:rPr lang="en-US" altLang="ko-KR" dirty="0"/>
              <a:t>: </a:t>
            </a:r>
            <a:r>
              <a:rPr lang="ko-KR" altLang="en-US" dirty="0"/>
              <a:t>동일한 관측 벡터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0ABA3C-36D7-B6EF-579A-EED2D186580B}"/>
              </a:ext>
            </a:extLst>
          </p:cNvPr>
          <p:cNvSpPr txBox="1"/>
          <p:nvPr/>
        </p:nvSpPr>
        <p:spPr>
          <a:xfrm>
            <a:off x="1041399" y="4729960"/>
            <a:ext cx="3389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은닉층</a:t>
            </a:r>
            <a:r>
              <a:rPr lang="ko-KR" altLang="en-US" dirty="0"/>
              <a:t> 크기</a:t>
            </a:r>
            <a:r>
              <a:rPr lang="en-US" altLang="ko-KR" dirty="0"/>
              <a:t>: [400, 200, 100]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7146E7-23CC-AAE7-B029-4711234AF601}"/>
              </a:ext>
            </a:extLst>
          </p:cNvPr>
          <p:cNvSpPr txBox="1"/>
          <p:nvPr/>
        </p:nvSpPr>
        <p:spPr>
          <a:xfrm>
            <a:off x="1041399" y="5120747"/>
            <a:ext cx="1917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활성함수</a:t>
            </a:r>
            <a:r>
              <a:rPr lang="en-US" altLang="ko-KR" dirty="0"/>
              <a:t>: ELU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4A4D5-8861-D934-C73D-B0771CE1B9BA}"/>
              </a:ext>
            </a:extLst>
          </p:cNvPr>
          <p:cNvSpPr txBox="1"/>
          <p:nvPr/>
        </p:nvSpPr>
        <p:spPr>
          <a:xfrm>
            <a:off x="1041399" y="5511534"/>
            <a:ext cx="509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출력</a:t>
            </a:r>
            <a:r>
              <a:rPr lang="en-US" altLang="ko-KR" dirty="0"/>
              <a:t>: </a:t>
            </a:r>
            <a:r>
              <a:rPr lang="ko-KR" altLang="en-US" dirty="0"/>
              <a:t>각 관절에 대한 연속 행동 분포의 평균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835CC7-4A3B-F461-8014-69E88DC768E0}"/>
              </a:ext>
            </a:extLst>
          </p:cNvPr>
          <p:cNvSpPr txBox="1"/>
          <p:nvPr/>
        </p:nvSpPr>
        <p:spPr>
          <a:xfrm>
            <a:off x="1041399" y="5902321"/>
            <a:ext cx="5407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초기 행동 노이즈 표준편차</a:t>
            </a:r>
            <a:r>
              <a:rPr lang="en-US" altLang="ko-KR" dirty="0"/>
              <a:t>: </a:t>
            </a:r>
            <a:r>
              <a:rPr lang="en-US" altLang="ko-KR" dirty="0" err="1"/>
              <a:t>init_noise_std</a:t>
            </a:r>
            <a:r>
              <a:rPr lang="en-US" altLang="ko-KR" dirty="0"/>
              <a:t> = 1.0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FE61C4-A884-C181-39D1-FEE4F58C13D8}"/>
              </a:ext>
            </a:extLst>
          </p:cNvPr>
          <p:cNvSpPr txBox="1"/>
          <p:nvPr/>
        </p:nvSpPr>
        <p:spPr>
          <a:xfrm>
            <a:off x="7070527" y="4339173"/>
            <a:ext cx="2847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입력</a:t>
            </a:r>
            <a:r>
              <a:rPr lang="en-US" altLang="ko-KR" dirty="0"/>
              <a:t>: </a:t>
            </a:r>
            <a:r>
              <a:rPr lang="ko-KR" altLang="en-US" dirty="0"/>
              <a:t>동일한 관측 벡터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6415A2-C73D-A5C9-1BFC-95326E6C056A}"/>
              </a:ext>
            </a:extLst>
          </p:cNvPr>
          <p:cNvSpPr txBox="1"/>
          <p:nvPr/>
        </p:nvSpPr>
        <p:spPr>
          <a:xfrm>
            <a:off x="7070527" y="4729960"/>
            <a:ext cx="3389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은닉층</a:t>
            </a:r>
            <a:r>
              <a:rPr lang="ko-KR" altLang="en-US" dirty="0"/>
              <a:t> 크기</a:t>
            </a:r>
            <a:r>
              <a:rPr lang="en-US" altLang="ko-KR" dirty="0"/>
              <a:t>: [400, 200, 100]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CF0A20-DE3B-5850-C708-CBE1F7D2278B}"/>
              </a:ext>
            </a:extLst>
          </p:cNvPr>
          <p:cNvSpPr txBox="1"/>
          <p:nvPr/>
        </p:nvSpPr>
        <p:spPr>
          <a:xfrm>
            <a:off x="7070527" y="5120747"/>
            <a:ext cx="1917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활성함수</a:t>
            </a:r>
            <a:r>
              <a:rPr lang="en-US" altLang="ko-KR" dirty="0"/>
              <a:t>: ELU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CCC1D5-828D-895E-AF75-84DD0F25DD12}"/>
              </a:ext>
            </a:extLst>
          </p:cNvPr>
          <p:cNvSpPr txBox="1"/>
          <p:nvPr/>
        </p:nvSpPr>
        <p:spPr>
          <a:xfrm>
            <a:off x="7070527" y="5511534"/>
            <a:ext cx="3621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출력</a:t>
            </a:r>
            <a:r>
              <a:rPr lang="en-US" altLang="ko-KR" dirty="0"/>
              <a:t>: </a:t>
            </a:r>
            <a:r>
              <a:rPr lang="ko-KR" altLang="en-US" dirty="0"/>
              <a:t>현재 상태의 가치 추정치</a:t>
            </a:r>
          </a:p>
        </p:txBody>
      </p:sp>
    </p:spTree>
    <p:extLst>
      <p:ext uri="{BB962C8B-B14F-4D97-AF65-F5344CB8AC3E}">
        <p14:creationId xmlns:p14="http://schemas.microsoft.com/office/powerpoint/2010/main" val="333593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AD637-947F-179A-48DE-6A58560E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Hyperparameter</a:t>
            </a:r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</a:rPr>
              <a:t> of PPO Algorithm</a:t>
            </a:r>
            <a:endParaRPr lang="ko-KR" altLang="en-US" dirty="0">
              <a:latin typeface="Cambria Math" panose="020405030504060302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104D12-BDC2-14EF-FB66-F2627C1FFAC2}"/>
              </a:ext>
            </a:extLst>
          </p:cNvPr>
          <p:cNvSpPr/>
          <p:nvPr/>
        </p:nvSpPr>
        <p:spPr>
          <a:xfrm>
            <a:off x="838200" y="1316843"/>
            <a:ext cx="5449389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A324B6-B5CB-5CD0-27B9-6B21AC855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620" y="1550834"/>
            <a:ext cx="5064414" cy="50169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6277BA-5FFA-6935-E599-0CCB24570126}"/>
              </a:ext>
            </a:extLst>
          </p:cNvPr>
          <p:cNvSpPr txBox="1"/>
          <p:nvPr/>
        </p:nvSpPr>
        <p:spPr>
          <a:xfrm>
            <a:off x="1453664" y="2417801"/>
            <a:ext cx="22576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 err="1"/>
              <a:t>value_loss_coef</a:t>
            </a:r>
            <a:r>
              <a:rPr lang="en-US" altLang="ko-KR" sz="1400" b="1" dirty="0"/>
              <a:t> = 1.0</a:t>
            </a:r>
            <a:endParaRPr lang="ko-KR" alt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D7C0A-0545-9DC5-1773-E7219D6E76DF}"/>
              </a:ext>
            </a:extLst>
          </p:cNvPr>
          <p:cNvSpPr txBox="1"/>
          <p:nvPr/>
        </p:nvSpPr>
        <p:spPr>
          <a:xfrm>
            <a:off x="1453664" y="2813266"/>
            <a:ext cx="30190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 err="1"/>
              <a:t>use_clipped_value_loss</a:t>
            </a:r>
            <a:r>
              <a:rPr lang="en-US" altLang="ko-KR" sz="1400" b="1" dirty="0"/>
              <a:t> = True</a:t>
            </a:r>
            <a:endParaRPr lang="ko-KR" altLang="en-US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6267F2-72B1-D3A1-1F5B-A1A0D47E94CC}"/>
              </a:ext>
            </a:extLst>
          </p:cNvPr>
          <p:cNvSpPr txBox="1"/>
          <p:nvPr/>
        </p:nvSpPr>
        <p:spPr>
          <a:xfrm>
            <a:off x="1453664" y="3203179"/>
            <a:ext cx="1900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 err="1"/>
              <a:t>clip_param</a:t>
            </a:r>
            <a:r>
              <a:rPr lang="en-US" altLang="ko-KR" sz="1400" b="1" dirty="0"/>
              <a:t> = 0.2</a:t>
            </a:r>
            <a:endParaRPr lang="ko-KR" altLang="en-US"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37F35C-F018-05A9-6CC3-60605B3A41D1}"/>
              </a:ext>
            </a:extLst>
          </p:cNvPr>
          <p:cNvSpPr txBox="1"/>
          <p:nvPr/>
        </p:nvSpPr>
        <p:spPr>
          <a:xfrm>
            <a:off x="1453664" y="3510956"/>
            <a:ext cx="2091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 err="1"/>
              <a:t>entropy_coef</a:t>
            </a:r>
            <a:r>
              <a:rPr lang="en-US" altLang="ko-KR" sz="1400" b="1" dirty="0"/>
              <a:t> = 0.0</a:t>
            </a:r>
            <a:endParaRPr lang="ko-KR" altLang="en-US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ADFB8E-FB1B-C7E7-2085-A5707A39745A}"/>
              </a:ext>
            </a:extLst>
          </p:cNvPr>
          <p:cNvSpPr txBox="1"/>
          <p:nvPr/>
        </p:nvSpPr>
        <p:spPr>
          <a:xfrm>
            <a:off x="1453664" y="3751555"/>
            <a:ext cx="26697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 err="1"/>
              <a:t>num_learning_epochs</a:t>
            </a:r>
            <a:r>
              <a:rPr lang="en-US" altLang="ko-KR" sz="1400" b="1" dirty="0"/>
              <a:t> = 5</a:t>
            </a:r>
            <a:endParaRPr lang="ko-KR" altLang="en-US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A7E706-17AF-E079-4F8F-93C708D0A5AA}"/>
              </a:ext>
            </a:extLst>
          </p:cNvPr>
          <p:cNvSpPr txBox="1"/>
          <p:nvPr/>
        </p:nvSpPr>
        <p:spPr>
          <a:xfrm>
            <a:off x="1456125" y="4059332"/>
            <a:ext cx="23708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 err="1"/>
              <a:t>learning_rate</a:t>
            </a:r>
            <a:r>
              <a:rPr lang="en-US" altLang="ko-KR" sz="1400" b="1" dirty="0"/>
              <a:t> = 5.0e-4</a:t>
            </a:r>
            <a:endParaRPr lang="ko-KR" altLang="en-US" sz="1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BC3BDA-ED30-1663-6906-2FC1DA2C988F}"/>
              </a:ext>
            </a:extLst>
          </p:cNvPr>
          <p:cNvSpPr txBox="1"/>
          <p:nvPr/>
        </p:nvSpPr>
        <p:spPr>
          <a:xfrm>
            <a:off x="1455291" y="4350325"/>
            <a:ext cx="2372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schedule = "adaptive"</a:t>
            </a:r>
            <a:endParaRPr lang="ko-KR" altLang="en-US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9602E3-023A-B43B-05E6-85F998CEB6D5}"/>
              </a:ext>
            </a:extLst>
          </p:cNvPr>
          <p:cNvSpPr txBox="1"/>
          <p:nvPr/>
        </p:nvSpPr>
        <p:spPr>
          <a:xfrm>
            <a:off x="1453664" y="4637964"/>
            <a:ext cx="1399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lam = 0.95</a:t>
            </a:r>
            <a:endParaRPr lang="ko-KR" altLang="en-US" sz="1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64C657-D95C-0507-7A7D-E460ADC559AC}"/>
              </a:ext>
            </a:extLst>
          </p:cNvPr>
          <p:cNvSpPr txBox="1"/>
          <p:nvPr/>
        </p:nvSpPr>
        <p:spPr>
          <a:xfrm>
            <a:off x="1453664" y="4928957"/>
            <a:ext cx="19390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 err="1"/>
              <a:t>desired_kl</a:t>
            </a:r>
            <a:r>
              <a:rPr lang="en-US" altLang="ko-KR" sz="1400" b="1" dirty="0"/>
              <a:t> = 0.01</a:t>
            </a:r>
            <a:endParaRPr lang="ko-KR" altLang="en-US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3A5642-6E51-CCA3-6946-199AB548F5E0}"/>
              </a:ext>
            </a:extLst>
          </p:cNvPr>
          <p:cNvSpPr txBox="1"/>
          <p:nvPr/>
        </p:nvSpPr>
        <p:spPr>
          <a:xfrm>
            <a:off x="1453664" y="5233380"/>
            <a:ext cx="234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 err="1"/>
              <a:t>max_grad_norm</a:t>
            </a:r>
            <a:r>
              <a:rPr lang="en-US" altLang="ko-KR" sz="1400" b="1" dirty="0"/>
              <a:t> = 1.0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709186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E8535-FA8D-4833-15DB-0456F42AB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252921-8BCE-1CED-0017-8A0E0422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Hyperparameter of PPO Algorithm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5C0CC29-1568-962C-C50B-08D459847E4B}"/>
              </a:ext>
            </a:extLst>
          </p:cNvPr>
          <p:cNvSpPr/>
          <p:nvPr/>
        </p:nvSpPr>
        <p:spPr>
          <a:xfrm flipV="1">
            <a:off x="838200" y="1262415"/>
            <a:ext cx="6978650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1FCA11-B202-3877-17EE-EE3BA61E12F1}"/>
              </a:ext>
            </a:extLst>
          </p:cNvPr>
          <p:cNvSpPr txBox="1"/>
          <p:nvPr/>
        </p:nvSpPr>
        <p:spPr>
          <a:xfrm>
            <a:off x="56664" y="1641973"/>
            <a:ext cx="22576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 err="1"/>
              <a:t>value_loss_coef</a:t>
            </a:r>
            <a:r>
              <a:rPr lang="en-US" altLang="ko-KR" sz="1400" b="1" dirty="0"/>
              <a:t> = 1.0</a:t>
            </a:r>
            <a:endParaRPr lang="ko-KR" altLang="en-US" sz="1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049FBC-80C0-6D4C-9995-9BDB4BFC718E}"/>
              </a:ext>
            </a:extLst>
          </p:cNvPr>
          <p:cNvSpPr txBox="1"/>
          <p:nvPr/>
        </p:nvSpPr>
        <p:spPr>
          <a:xfrm>
            <a:off x="56664" y="2667210"/>
            <a:ext cx="30190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 err="1"/>
              <a:t>use_clipped_value_loss</a:t>
            </a:r>
            <a:r>
              <a:rPr lang="en-US" altLang="ko-KR" sz="1400" b="1" dirty="0"/>
              <a:t> = True</a:t>
            </a:r>
            <a:endParaRPr lang="ko-KR" altLang="en-US" sz="1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F7C6EC-CF3C-91F3-8336-4106F6B3B084}"/>
              </a:ext>
            </a:extLst>
          </p:cNvPr>
          <p:cNvSpPr txBox="1"/>
          <p:nvPr/>
        </p:nvSpPr>
        <p:spPr>
          <a:xfrm>
            <a:off x="436575" y="2110678"/>
            <a:ext cx="36259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체 손실 함수에서 </a:t>
            </a:r>
            <a:r>
              <a:rPr lang="en-US" altLang="ko-KR" sz="1400" dirty="0"/>
              <a:t>value loss </a:t>
            </a:r>
            <a:r>
              <a:rPr lang="ko-KR" altLang="en-US" sz="1400" dirty="0"/>
              <a:t>항목의 가중치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D09E0F-6C6B-B05D-103A-533811F6EBE6}"/>
              </a:ext>
            </a:extLst>
          </p:cNvPr>
          <p:cNvSpPr txBox="1"/>
          <p:nvPr/>
        </p:nvSpPr>
        <p:spPr>
          <a:xfrm>
            <a:off x="10977" y="3507781"/>
            <a:ext cx="1900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 err="1"/>
              <a:t>clip_param</a:t>
            </a:r>
            <a:r>
              <a:rPr lang="en-US" altLang="ko-KR" sz="1400" b="1" dirty="0"/>
              <a:t> = 0.2</a:t>
            </a:r>
            <a:endParaRPr lang="ko-KR" altLang="en-US" sz="1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0AC710-DBD2-8D3B-A51E-088A09D247B9}"/>
              </a:ext>
            </a:extLst>
          </p:cNvPr>
          <p:cNvSpPr txBox="1"/>
          <p:nvPr/>
        </p:nvSpPr>
        <p:spPr>
          <a:xfrm>
            <a:off x="73623" y="4914265"/>
            <a:ext cx="2091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 err="1"/>
              <a:t>entropy_coef</a:t>
            </a:r>
            <a:r>
              <a:rPr lang="en-US" altLang="ko-KR" sz="1400" b="1" dirty="0"/>
              <a:t> = 0.0</a:t>
            </a:r>
            <a:endParaRPr lang="ko-KR" altLang="en-US" sz="1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42C8AE-DEEE-2FB5-EB03-00C76529695B}"/>
              </a:ext>
            </a:extLst>
          </p:cNvPr>
          <p:cNvSpPr txBox="1"/>
          <p:nvPr/>
        </p:nvSpPr>
        <p:spPr>
          <a:xfrm>
            <a:off x="0" y="5754836"/>
            <a:ext cx="26697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 err="1"/>
              <a:t>num_learning_epochs</a:t>
            </a:r>
            <a:r>
              <a:rPr lang="en-US" altLang="ko-KR" sz="1400" b="1" dirty="0"/>
              <a:t> = 5</a:t>
            </a:r>
            <a:endParaRPr lang="ko-KR" altLang="en-US" sz="1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2FCEF8-6C0C-C403-1ED6-34119EC55EE0}"/>
              </a:ext>
            </a:extLst>
          </p:cNvPr>
          <p:cNvSpPr txBox="1"/>
          <p:nvPr/>
        </p:nvSpPr>
        <p:spPr>
          <a:xfrm>
            <a:off x="587473" y="3101348"/>
            <a:ext cx="5649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가치함수 업데이트에도 정책과 유사한 </a:t>
            </a:r>
            <a:r>
              <a:rPr lang="ko-KR" altLang="en-US" sz="1400" dirty="0" err="1"/>
              <a:t>클리핑</a:t>
            </a:r>
            <a:r>
              <a:rPr lang="ko-KR" altLang="en-US" sz="1400" dirty="0"/>
              <a:t> 기법을 적용할지 여부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F9A5389-39A8-3406-7EC9-ADC50927CFCF}"/>
                  </a:ext>
                </a:extLst>
              </p:cNvPr>
              <p:cNvSpPr txBox="1"/>
              <p:nvPr/>
            </p:nvSpPr>
            <p:spPr>
              <a:xfrm>
                <a:off x="475242" y="3657880"/>
                <a:ext cx="5649302" cy="1120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400" dirty="0"/>
                  <a:t>정책 비율 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sz="1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altLang="ko-K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ar-AE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ar-AE" sz="1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ko-KR" sz="1400" i="1"/>
                                  <m:t>new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ar-AE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ar-AE" altLang="ko-KR" sz="140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ar-AE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ar-AE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ar-AE" sz="1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ko-KR" sz="1400" i="1"/>
                                  <m:t>old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ar-AE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ar-AE" altLang="ko-KR" sz="140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</m:oMath>
                </a14:m>
                <a:r>
                  <a:rPr lang="ko-KR" altLang="en-US" sz="1400" dirty="0"/>
                  <a:t>를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altLang="ko-KR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14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altLang="ko-KR" sz="1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ko-KR" sz="1400" i="1"/>
                          <m:t>clip</m:t>
                        </m:r>
                        <m:r>
                          <m:rPr>
                            <m:lit/>
                            <m:nor/>
                          </m:rPr>
                          <a:rPr lang="en-US" altLang="ko-KR" sz="1400" i="1"/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i="1"/>
                          <m:t>param</m:t>
                        </m:r>
                        <m:r>
                          <a:rPr lang="en-US" altLang="ko-KR" sz="14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ko-KR" sz="1400" i="1"/>
                          <m:t>clip</m:t>
                        </m:r>
                        <m:r>
                          <m:rPr>
                            <m:lit/>
                            <m:nor/>
                          </m:rPr>
                          <a:rPr lang="en-US" altLang="ko-KR" sz="1400" i="1"/>
                          <m:t>_</m:t>
                        </m:r>
                        <m:r>
                          <m:rPr>
                            <m:nor/>
                          </m:rPr>
                          <a:rPr lang="en-US" altLang="ko-KR" sz="1400" i="1"/>
                          <m:t>param</m:t>
                        </m:r>
                      </m:e>
                    </m:d>
                  </m:oMath>
                </a14:m>
                <a:r>
                  <a:rPr lang="ko-KR" altLang="en-US" sz="1400" dirty="0"/>
                  <a:t> 범위에서 제한하여 </a:t>
                </a:r>
                <a:r>
                  <a:rPr lang="en-US" altLang="ko-KR" sz="1400" dirty="0"/>
                  <a:t>surrogate objective</a:t>
                </a:r>
                <a:r>
                  <a:rPr lang="ko-KR" altLang="en-US" sz="1400" dirty="0"/>
                  <a:t>를 계산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F9A5389-39A8-3406-7EC9-ADC50927C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42" y="3657880"/>
                <a:ext cx="5649302" cy="1120243"/>
              </a:xfrm>
              <a:prstGeom prst="rect">
                <a:avLst/>
              </a:prstGeom>
              <a:blipFill>
                <a:blip r:embed="rId2"/>
                <a:stretch>
                  <a:fillRect l="-324" b="-48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3025E35C-237B-0D18-4941-7AA38F56219B}"/>
              </a:ext>
            </a:extLst>
          </p:cNvPr>
          <p:cNvSpPr txBox="1"/>
          <p:nvPr/>
        </p:nvSpPr>
        <p:spPr>
          <a:xfrm>
            <a:off x="475242" y="5283597"/>
            <a:ext cx="2948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정책 엔트로피에 대한 보상 가중치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6350FF-9CB8-1875-C4B6-3864CC0A2E51}"/>
              </a:ext>
            </a:extLst>
          </p:cNvPr>
          <p:cNvSpPr txBox="1"/>
          <p:nvPr/>
        </p:nvSpPr>
        <p:spPr>
          <a:xfrm>
            <a:off x="475242" y="6338986"/>
            <a:ext cx="5456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한 번 수집한 </a:t>
            </a:r>
            <a:r>
              <a:rPr lang="en-US" altLang="ko-KR" sz="1400" dirty="0"/>
              <a:t>batch</a:t>
            </a:r>
            <a:r>
              <a:rPr lang="ko-KR" altLang="en-US" sz="1400" dirty="0"/>
              <a:t>에 대해 </a:t>
            </a:r>
            <a:r>
              <a:rPr lang="en-US" altLang="ko-KR" sz="1400" dirty="0"/>
              <a:t>gradient update</a:t>
            </a:r>
            <a:r>
              <a:rPr lang="ko-KR" altLang="en-US" sz="1400" dirty="0"/>
              <a:t>를 몇 </a:t>
            </a:r>
            <a:r>
              <a:rPr lang="en-US" altLang="ko-KR" sz="1400" dirty="0"/>
              <a:t>epoch </a:t>
            </a:r>
            <a:r>
              <a:rPr lang="ko-KR" altLang="en-US" sz="1400" dirty="0"/>
              <a:t>수행할지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E6AED8-884C-7E7A-BF25-C900B20B7B78}"/>
              </a:ext>
            </a:extLst>
          </p:cNvPr>
          <p:cNvSpPr txBox="1"/>
          <p:nvPr/>
        </p:nvSpPr>
        <p:spPr>
          <a:xfrm>
            <a:off x="5931992" y="1442817"/>
            <a:ext cx="23708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 err="1"/>
              <a:t>learning_rate</a:t>
            </a:r>
            <a:r>
              <a:rPr lang="en-US" altLang="ko-KR" sz="1400" b="1" dirty="0"/>
              <a:t> = 5.0e-4</a:t>
            </a:r>
            <a:endParaRPr lang="ko-KR" altLang="en-US" sz="14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5A226C-C7CD-B430-AB14-5828D1181EE6}"/>
              </a:ext>
            </a:extLst>
          </p:cNvPr>
          <p:cNvSpPr txBox="1"/>
          <p:nvPr/>
        </p:nvSpPr>
        <p:spPr>
          <a:xfrm>
            <a:off x="6276677" y="2016622"/>
            <a:ext cx="5223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정책과 가치함수 파라미터를 업데이트하는 </a:t>
            </a:r>
            <a:r>
              <a:rPr lang="en-US" altLang="ko-KR" sz="1400" dirty="0"/>
              <a:t>Adam optimizer</a:t>
            </a:r>
            <a:r>
              <a:rPr lang="ko-KR" altLang="en-US" sz="1400" dirty="0"/>
              <a:t>의 초기 </a:t>
            </a:r>
            <a:r>
              <a:rPr lang="ko-KR" altLang="en-US" sz="1400" dirty="0" err="1"/>
              <a:t>학습률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C6FF7-F48E-30BD-19F8-1BAD2F047BEE}"/>
              </a:ext>
            </a:extLst>
          </p:cNvPr>
          <p:cNvSpPr txBox="1"/>
          <p:nvPr/>
        </p:nvSpPr>
        <p:spPr>
          <a:xfrm>
            <a:off x="5931992" y="2513321"/>
            <a:ext cx="2372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schedule = "adaptive"</a:t>
            </a:r>
            <a:endParaRPr lang="ko-KR" altLang="en-US" sz="14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1DED1A-8E77-C98B-EDE5-DDD0A36C4408}"/>
              </a:ext>
            </a:extLst>
          </p:cNvPr>
          <p:cNvSpPr txBox="1"/>
          <p:nvPr/>
        </p:nvSpPr>
        <p:spPr>
          <a:xfrm>
            <a:off x="6276677" y="3087126"/>
            <a:ext cx="49477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학습률</a:t>
            </a:r>
            <a:r>
              <a:rPr lang="ko-KR" altLang="en-US" sz="1400" dirty="0"/>
              <a:t> 조정 스케줄의 종류</a:t>
            </a:r>
            <a:r>
              <a:rPr lang="en-US" altLang="ko-KR" sz="1400" dirty="0"/>
              <a:t>, </a:t>
            </a:r>
            <a:r>
              <a:rPr lang="en-US" altLang="ko-KR" sz="1600" dirty="0"/>
              <a:t>"</a:t>
            </a:r>
            <a:r>
              <a:rPr lang="en-US" altLang="ko-KR" sz="1400" dirty="0"/>
              <a:t>adaptive</a:t>
            </a:r>
            <a:r>
              <a:rPr lang="en-US" altLang="ko-KR" sz="1600" dirty="0"/>
              <a:t>"</a:t>
            </a:r>
            <a:r>
              <a:rPr lang="ko-KR" altLang="en-US" sz="1200" dirty="0"/>
              <a:t> </a:t>
            </a:r>
            <a:r>
              <a:rPr lang="ko-KR" altLang="en-US" sz="1400" dirty="0"/>
              <a:t>는 </a:t>
            </a:r>
            <a:r>
              <a:rPr lang="en-US" altLang="ko-KR" sz="1400" dirty="0"/>
              <a:t>KL divergence</a:t>
            </a:r>
            <a:r>
              <a:rPr lang="ko-KR" altLang="en-US" sz="1400" dirty="0"/>
              <a:t>를 기준으로 </a:t>
            </a:r>
            <a:r>
              <a:rPr lang="ko-KR" altLang="en-US" sz="1400" dirty="0" err="1"/>
              <a:t>학습률을</a:t>
            </a:r>
            <a:r>
              <a:rPr lang="ko-KR" altLang="en-US" sz="1400" dirty="0"/>
              <a:t> 동적으로 조정하는 방식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006140-2A57-6C7E-720F-6C0F84ED7F3B}"/>
              </a:ext>
            </a:extLst>
          </p:cNvPr>
          <p:cNvSpPr txBox="1"/>
          <p:nvPr/>
        </p:nvSpPr>
        <p:spPr>
          <a:xfrm>
            <a:off x="5931992" y="3792328"/>
            <a:ext cx="1399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lam = 0.95</a:t>
            </a:r>
            <a:endParaRPr lang="ko-KR" altLang="en-US" sz="14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12DB32-C55A-3A7D-CF64-1D59FC8F0AF7}"/>
              </a:ext>
            </a:extLst>
          </p:cNvPr>
          <p:cNvSpPr txBox="1"/>
          <p:nvPr/>
        </p:nvSpPr>
        <p:spPr>
          <a:xfrm>
            <a:off x="6276677" y="4274562"/>
            <a:ext cx="60176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GAE(Generalized Advantage Estimation)</a:t>
            </a:r>
            <a:r>
              <a:rPr lang="ko-KR" altLang="en-US" sz="1400" dirty="0"/>
              <a:t>에서 사용하는 </a:t>
            </a:r>
            <a:r>
              <a:rPr lang="en-US" altLang="ko-KR" sz="1400" dirty="0"/>
              <a:t>lambda </a:t>
            </a:r>
            <a:r>
              <a:rPr lang="ko-KR" altLang="en-US" sz="1400" dirty="0"/>
              <a:t>파라미터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5B754-DB8D-C317-1988-6F88001B8BB5}"/>
              </a:ext>
            </a:extLst>
          </p:cNvPr>
          <p:cNvSpPr txBox="1"/>
          <p:nvPr/>
        </p:nvSpPr>
        <p:spPr>
          <a:xfrm>
            <a:off x="5931992" y="4869241"/>
            <a:ext cx="19390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 err="1"/>
              <a:t>desired_kl</a:t>
            </a:r>
            <a:r>
              <a:rPr lang="en-US" altLang="ko-KR" sz="1400" b="1" dirty="0"/>
              <a:t> = 0.01</a:t>
            </a:r>
            <a:endParaRPr lang="ko-KR" altLang="en-US" sz="14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A89ED5-BCC7-1CD2-04DF-B1D2F963C72E}"/>
              </a:ext>
            </a:extLst>
          </p:cNvPr>
          <p:cNvSpPr txBox="1"/>
          <p:nvPr/>
        </p:nvSpPr>
        <p:spPr>
          <a:xfrm>
            <a:off x="6276677" y="5372349"/>
            <a:ext cx="5313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인접한 </a:t>
            </a:r>
            <a:r>
              <a:rPr lang="en-US" altLang="ko-KR" sz="1400" dirty="0"/>
              <a:t>iteration </a:t>
            </a:r>
            <a:r>
              <a:rPr lang="ko-KR" altLang="en-US" sz="1400" dirty="0"/>
              <a:t>사이에서 목표로 하는 평균 </a:t>
            </a:r>
            <a:r>
              <a:rPr lang="en-US" altLang="ko-KR" sz="1400" dirty="0"/>
              <a:t>KL divergence </a:t>
            </a:r>
            <a:r>
              <a:rPr lang="ko-KR" altLang="en-US" sz="1400" dirty="0"/>
              <a:t>수준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FF0702-2A12-BBC4-51F0-1917C0735BCA}"/>
              </a:ext>
            </a:extLst>
          </p:cNvPr>
          <p:cNvSpPr txBox="1"/>
          <p:nvPr/>
        </p:nvSpPr>
        <p:spPr>
          <a:xfrm>
            <a:off x="6013238" y="5836834"/>
            <a:ext cx="234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 err="1"/>
              <a:t>max_grad_norm</a:t>
            </a:r>
            <a:r>
              <a:rPr lang="en-US" altLang="ko-KR" sz="1400" b="1" dirty="0"/>
              <a:t> = 1.0</a:t>
            </a:r>
            <a:endParaRPr lang="ko-KR" altLang="en-US" sz="14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9B9A16-28A3-BAE1-F3B3-C4E974484C7A}"/>
              </a:ext>
            </a:extLst>
          </p:cNvPr>
          <p:cNvSpPr txBox="1"/>
          <p:nvPr/>
        </p:nvSpPr>
        <p:spPr>
          <a:xfrm>
            <a:off x="6357923" y="6410639"/>
            <a:ext cx="4076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gradient clipping</a:t>
            </a:r>
            <a:r>
              <a:rPr lang="ko-KR" altLang="en-US" sz="1400" dirty="0"/>
              <a:t>을 위한 최대 </a:t>
            </a:r>
            <a:r>
              <a:rPr lang="en-US" altLang="ko-KR" sz="1400" dirty="0"/>
              <a:t>gradient norm</a:t>
            </a:r>
            <a:r>
              <a:rPr lang="ko-KR" altLang="en-US" sz="1400" dirty="0"/>
              <a:t> 값</a:t>
            </a:r>
          </a:p>
        </p:txBody>
      </p:sp>
    </p:spTree>
    <p:extLst>
      <p:ext uri="{BB962C8B-B14F-4D97-AF65-F5344CB8AC3E}">
        <p14:creationId xmlns:p14="http://schemas.microsoft.com/office/powerpoint/2010/main" val="135513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AD637-947F-179A-48DE-6A58560E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 Setup</a:t>
            </a:r>
            <a:endParaRPr lang="ko-KR" altLang="en-US" sz="3600" dirty="0">
              <a:latin typeface="Cambria Math" panose="020405030504060302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104D12-BDC2-14EF-FB66-F2627C1FFAC2}"/>
              </a:ext>
            </a:extLst>
          </p:cNvPr>
          <p:cNvSpPr/>
          <p:nvPr/>
        </p:nvSpPr>
        <p:spPr>
          <a:xfrm>
            <a:off x="838200" y="1308134"/>
            <a:ext cx="4777839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2C6DE1-152E-F1F2-04FB-2C87164AFF70}"/>
                  </a:ext>
                </a:extLst>
              </p:cNvPr>
              <p:cNvSpPr txBox="1"/>
              <p:nvPr/>
            </p:nvSpPr>
            <p:spPr>
              <a:xfrm>
                <a:off x="711200" y="1690688"/>
                <a:ext cx="876283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altLang="ko-KR" b="1" dirty="0"/>
                  <a:t>Environment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Ubuntu 22.04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Isaac Lab 2.0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RSL, RL Library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한번의 </a:t>
                </a:r>
                <a:r>
                  <a:rPr lang="en-US" altLang="ko-KR" dirty="0"/>
                  <a:t>PPO Update</a:t>
                </a:r>
                <a:r>
                  <a:rPr lang="ko-KR" altLang="en-US" dirty="0"/>
                  <a:t>에 사용되는 </a:t>
                </a:r>
                <a:r>
                  <a:rPr lang="en-US" altLang="ko-KR" dirty="0"/>
                  <a:t>transition </a:t>
                </a:r>
                <a:r>
                  <a:rPr lang="ko-KR" altLang="en-US" dirty="0"/>
                  <a:t>수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ko-KR" altLang="ar-AE" i="1" dirty="0">
                            <a:latin typeface="Cambria Math" panose="02040503050406030204" pitchFamily="18" charset="0"/>
                          </a:rPr>
                          <m:t>𝑏𝑎𝑡𝑐</m:t>
                        </m:r>
                        <m:r>
                          <a:rPr lang="ar-AE" altLang="ko-KR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ar-AE" altLang="ko-KR" i="1" dirty="0">
                        <a:latin typeface="Cambria Math" panose="02040503050406030204" pitchFamily="18" charset="0"/>
                      </a:rPr>
                      <m:t>​=</m:t>
                    </m:r>
                    <m:sSub>
                      <m:sSubPr>
                        <m:ctrlPr>
                          <a:rPr lang="ar-AE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ko-KR" altLang="ar-AE" i="1" dirty="0">
                            <a:latin typeface="Cambria Math" panose="02040503050406030204" pitchFamily="18" charset="0"/>
                          </a:rPr>
                          <m:t>𝑒𝑛𝑣</m:t>
                        </m:r>
                      </m:sub>
                    </m:sSub>
                    <m:r>
                      <a:rPr lang="ar-AE" altLang="ko-KR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altLang="ko-KR" i="1" dirty="0">
                        <a:latin typeface="Cambria Math" panose="02040503050406030204" pitchFamily="18" charset="0"/>
                      </a:rPr>
                      <m:t>32</m:t>
                    </m:r>
                    <m:sSub>
                      <m:sSubPr>
                        <m:ctrlPr>
                          <a:rPr lang="ar-AE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ar-AE" altLang="ko-KR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ko-KR" altLang="ar-AE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ko-KR" altLang="ar-AE" i="1" dirty="0">
                            <a:latin typeface="Cambria Math" panose="02040503050406030204" pitchFamily="18" charset="0"/>
                          </a:rPr>
                          <m:t>𝑒𝑛𝑣</m:t>
                        </m:r>
                      </m:sub>
                    </m:sSub>
                    <m:r>
                      <a:rPr lang="ar-AE" altLang="ko-KR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ko-KR" i="1" dirty="0">
                        <a:latin typeface="Cambria Math" panose="02040503050406030204" pitchFamily="18" charset="0"/>
                      </a:rPr>
                      <m:t>4096</m:t>
                    </m:r>
                    <m:r>
                      <a:rPr lang="ar-AE" altLang="ko-K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altLang="ko-KR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2C6DE1-152E-F1F2-04FB-2C87164A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" y="1690688"/>
                <a:ext cx="8762836" cy="1754326"/>
              </a:xfrm>
              <a:prstGeom prst="rect">
                <a:avLst/>
              </a:prstGeom>
              <a:blipFill>
                <a:blip r:embed="rId2"/>
                <a:stretch>
                  <a:fillRect l="-487" t="-1736" b="-24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28A28C2-71A2-DCE1-CAD9-F144846740C5}"/>
              </a:ext>
            </a:extLst>
          </p:cNvPr>
          <p:cNvSpPr txBox="1"/>
          <p:nvPr/>
        </p:nvSpPr>
        <p:spPr>
          <a:xfrm>
            <a:off x="838200" y="35971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Setup</a:t>
            </a:r>
            <a:r>
              <a:rPr lang="ko-KR" altLang="en-US" b="1" dirty="0"/>
              <a:t> </a:t>
            </a:r>
            <a:r>
              <a:rPr lang="en-US" altLang="ko-KR" b="1" dirty="0"/>
              <a:t>of</a:t>
            </a:r>
            <a:r>
              <a:rPr lang="ko-KR" altLang="en-US" b="1" dirty="0"/>
              <a:t> </a:t>
            </a:r>
            <a:r>
              <a:rPr lang="en-US" altLang="ko-KR" b="1" dirty="0"/>
              <a:t>Experiments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511CC8D-4BC4-5A99-02E4-C85673E6C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187586"/>
              </p:ext>
            </p:extLst>
          </p:nvPr>
        </p:nvGraphicFramePr>
        <p:xfrm>
          <a:off x="892294" y="4118685"/>
          <a:ext cx="10407412" cy="23741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01853">
                  <a:extLst>
                    <a:ext uri="{9D8B030D-6E8A-4147-A177-3AD203B41FA5}">
                      <a16:colId xmlns:a16="http://schemas.microsoft.com/office/drawing/2014/main" val="1010603207"/>
                    </a:ext>
                  </a:extLst>
                </a:gridCol>
                <a:gridCol w="2601853">
                  <a:extLst>
                    <a:ext uri="{9D8B030D-6E8A-4147-A177-3AD203B41FA5}">
                      <a16:colId xmlns:a16="http://schemas.microsoft.com/office/drawing/2014/main" val="1023555998"/>
                    </a:ext>
                  </a:extLst>
                </a:gridCol>
                <a:gridCol w="2601853">
                  <a:extLst>
                    <a:ext uri="{9D8B030D-6E8A-4147-A177-3AD203B41FA5}">
                      <a16:colId xmlns:a16="http://schemas.microsoft.com/office/drawing/2014/main" val="2088066509"/>
                    </a:ext>
                  </a:extLst>
                </a:gridCol>
                <a:gridCol w="2601853">
                  <a:extLst>
                    <a:ext uri="{9D8B030D-6E8A-4147-A177-3AD203B41FA5}">
                      <a16:colId xmlns:a16="http://schemas.microsoft.com/office/drawing/2014/main" val="1172120015"/>
                    </a:ext>
                  </a:extLst>
                </a:gridCol>
              </a:tblGrid>
              <a:tr h="47483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Experiment</a:t>
                      </a:r>
                      <a:endParaRPr lang="ko-KR" altLang="en-US" sz="1600" dirty="0"/>
                    </a:p>
                  </a:txBody>
                  <a:tcPr marL="117083" marR="117083" marT="58542" marB="58542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변경 </a:t>
                      </a:r>
                      <a:r>
                        <a:rPr lang="en-US" altLang="ko-KR" sz="1600" dirty="0"/>
                        <a:t>Parameter</a:t>
                      </a:r>
                      <a:endParaRPr lang="ko-KR" altLang="en-US" sz="1600" dirty="0"/>
                    </a:p>
                  </a:txBody>
                  <a:tcPr marL="117083" marR="117083" marT="58542" marB="58542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값</a:t>
                      </a:r>
                    </a:p>
                  </a:txBody>
                  <a:tcPr marL="117083" marR="117083" marT="58542" marB="58542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의도</a:t>
                      </a:r>
                    </a:p>
                  </a:txBody>
                  <a:tcPr marL="117083" marR="117083" marT="58542" marB="58542"/>
                </a:tc>
                <a:extLst>
                  <a:ext uri="{0D108BD9-81ED-4DB2-BD59-A6C34878D82A}">
                    <a16:rowId xmlns:a16="http://schemas.microsoft.com/office/drawing/2014/main" val="1925367523"/>
                  </a:ext>
                </a:extLst>
              </a:tr>
              <a:tr h="47483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Exp1</a:t>
                      </a:r>
                    </a:p>
                  </a:txBody>
                  <a:tcPr marL="117083" marR="117083" marT="58542" marB="58542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err="1"/>
                        <a:t>entropy_coef</a:t>
                      </a:r>
                      <a:endParaRPr lang="ko-KR" altLang="en-US" sz="1600" dirty="0"/>
                    </a:p>
                  </a:txBody>
                  <a:tcPr marL="117083" marR="117083" marT="58542" marB="58542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0.01</a:t>
                      </a:r>
                      <a:endParaRPr lang="ko-KR" altLang="en-US" sz="1600" dirty="0"/>
                    </a:p>
                  </a:txBody>
                  <a:tcPr marL="117083" marR="117083" marT="58542" marB="58542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탐색 강화</a:t>
                      </a:r>
                    </a:p>
                  </a:txBody>
                  <a:tcPr marL="117083" marR="117083" marT="58542" marB="58542"/>
                </a:tc>
                <a:extLst>
                  <a:ext uri="{0D108BD9-81ED-4DB2-BD59-A6C34878D82A}">
                    <a16:rowId xmlns:a16="http://schemas.microsoft.com/office/drawing/2014/main" val="922873661"/>
                  </a:ext>
                </a:extLst>
              </a:tr>
              <a:tr h="47483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Exp2</a:t>
                      </a:r>
                      <a:endParaRPr lang="ko-KR" altLang="en-US" sz="1600" dirty="0"/>
                    </a:p>
                  </a:txBody>
                  <a:tcPr marL="117083" marR="117083" marT="58542" marB="58542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err="1"/>
                        <a:t>clip_param</a:t>
                      </a:r>
                      <a:endParaRPr lang="ko-KR" altLang="en-US" sz="1600" dirty="0"/>
                    </a:p>
                  </a:txBody>
                  <a:tcPr marL="117083" marR="117083" marT="58542" marB="58542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0.1, 0.3</a:t>
                      </a:r>
                      <a:endParaRPr lang="ko-KR" altLang="en-US" sz="1600" dirty="0"/>
                    </a:p>
                  </a:txBody>
                  <a:tcPr marL="117083" marR="117083" marT="58542" marB="58542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보수적</a:t>
                      </a:r>
                      <a:r>
                        <a:rPr lang="en-US" altLang="ko-KR" sz="1600" dirty="0"/>
                        <a:t> vs</a:t>
                      </a:r>
                      <a:r>
                        <a:rPr lang="ko-KR" altLang="en-US" sz="1600" dirty="0"/>
                        <a:t> 공격적 비교</a:t>
                      </a:r>
                    </a:p>
                  </a:txBody>
                  <a:tcPr marL="117083" marR="117083" marT="58542" marB="58542"/>
                </a:tc>
                <a:extLst>
                  <a:ext uri="{0D108BD9-81ED-4DB2-BD59-A6C34878D82A}">
                    <a16:rowId xmlns:a16="http://schemas.microsoft.com/office/drawing/2014/main" val="3134611889"/>
                  </a:ext>
                </a:extLst>
              </a:tr>
              <a:tr h="47483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Exp3</a:t>
                      </a:r>
                      <a:endParaRPr lang="ko-KR" altLang="en-US" sz="1600" dirty="0"/>
                    </a:p>
                  </a:txBody>
                  <a:tcPr marL="117083" marR="117083" marT="58542" marB="58542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err="1"/>
                        <a:t>lr</a:t>
                      </a:r>
                      <a:endParaRPr lang="ko-KR" altLang="en-US" sz="1600" dirty="0"/>
                    </a:p>
                  </a:txBody>
                  <a:tcPr marL="117083" marR="117083" marT="58542" marB="58542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5e-4, 1e-3</a:t>
                      </a:r>
                      <a:endParaRPr lang="ko-KR" altLang="en-US" sz="1600" dirty="0"/>
                    </a:p>
                  </a:txBody>
                  <a:tcPr marL="117083" marR="117083" marT="58542" marB="58542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학습 속도와 안정성 비교</a:t>
                      </a:r>
                    </a:p>
                  </a:txBody>
                  <a:tcPr marL="117083" marR="117083" marT="58542" marB="58542"/>
                </a:tc>
                <a:extLst>
                  <a:ext uri="{0D108BD9-81ED-4DB2-BD59-A6C34878D82A}">
                    <a16:rowId xmlns:a16="http://schemas.microsoft.com/office/drawing/2014/main" val="912279547"/>
                  </a:ext>
                </a:extLst>
              </a:tr>
              <a:tr h="47483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Exp4</a:t>
                      </a:r>
                      <a:endParaRPr lang="ko-KR" altLang="en-US" sz="1600" dirty="0"/>
                    </a:p>
                  </a:txBody>
                  <a:tcPr marL="117083" marR="117083" marT="58542" marB="58542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baseline</a:t>
                      </a:r>
                      <a:endParaRPr lang="ko-KR" altLang="en-US" sz="1600" dirty="0"/>
                    </a:p>
                  </a:txBody>
                  <a:tcPr marL="117083" marR="117083" marT="58542" marB="58542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marL="117083" marR="117083" marT="58542" marB="58542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기준 성능</a:t>
                      </a:r>
                    </a:p>
                  </a:txBody>
                  <a:tcPr marL="117083" marR="117083" marT="58542" marB="58542"/>
                </a:tc>
                <a:extLst>
                  <a:ext uri="{0D108BD9-81ED-4DB2-BD59-A6C34878D82A}">
                    <a16:rowId xmlns:a16="http://schemas.microsoft.com/office/drawing/2014/main" val="1833219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009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711F4-4FAA-A37D-6DD6-576AA963B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F727F-4D56-A21F-18FA-8E55E6EA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 Setup</a:t>
            </a:r>
            <a:endParaRPr lang="ko-KR" altLang="en-US" sz="3600" dirty="0">
              <a:latin typeface="Cambria Math" panose="020405030504060302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DC0690-25B0-6D35-EBA9-B151BC6BBA5C}"/>
              </a:ext>
            </a:extLst>
          </p:cNvPr>
          <p:cNvSpPr/>
          <p:nvPr/>
        </p:nvSpPr>
        <p:spPr>
          <a:xfrm>
            <a:off x="838200" y="1308134"/>
            <a:ext cx="4777839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2E1DFE-6422-EEE2-4D19-B7E51F09C458}"/>
              </a:ext>
            </a:extLst>
          </p:cNvPr>
          <p:cNvSpPr txBox="1"/>
          <p:nvPr/>
        </p:nvSpPr>
        <p:spPr>
          <a:xfrm>
            <a:off x="838201" y="1353853"/>
            <a:ext cx="209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Evaluation metric</a:t>
            </a:r>
            <a:endParaRPr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1C6DF5-2555-75F3-22BB-BEBBC5EA27B2}"/>
              </a:ext>
            </a:extLst>
          </p:cNvPr>
          <p:cNvSpPr txBox="1"/>
          <p:nvPr/>
        </p:nvSpPr>
        <p:spPr>
          <a:xfrm>
            <a:off x="838200" y="2312325"/>
            <a:ext cx="2203552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Episode Return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1" dirty="0"/>
              <a:t>전진 거리</a:t>
            </a: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1" dirty="0"/>
              <a:t>성공률</a:t>
            </a: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1" dirty="0"/>
              <a:t>에너지 소비</a:t>
            </a: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1" dirty="0"/>
              <a:t>자세안정성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94A9BD-3042-E792-46AD-0C2E5205D189}"/>
                  </a:ext>
                </a:extLst>
              </p:cNvPr>
              <p:cNvSpPr txBox="1"/>
              <p:nvPr/>
            </p:nvSpPr>
            <p:spPr>
              <a:xfrm>
                <a:off x="3094493" y="2074290"/>
                <a:ext cx="1596206" cy="8714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94A9BD-3042-E792-46AD-0C2E5205D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4493" y="2074290"/>
                <a:ext cx="1596206" cy="8714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43C9A0-AC75-ECA9-A08B-0B42DF5C4CDE}"/>
                  </a:ext>
                </a:extLst>
              </p:cNvPr>
              <p:cNvSpPr txBox="1"/>
              <p:nvPr/>
            </p:nvSpPr>
            <p:spPr>
              <a:xfrm>
                <a:off x="5090969" y="2424572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ko-KR" altLang="en-US" dirty="0"/>
                  <a:t>는 에피소드 길이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ko-KR" altLang="en-US" dirty="0"/>
                  <a:t>는 해당 </a:t>
                </a:r>
                <a:r>
                  <a:rPr lang="en-US" altLang="ko-KR" dirty="0"/>
                  <a:t>step</a:t>
                </a:r>
                <a:r>
                  <a:rPr lang="ko-KR" altLang="en-US" dirty="0"/>
                  <a:t>의 스칼라 </a:t>
                </a:r>
                <a:r>
                  <a:rPr lang="en-US" altLang="ko-KR" dirty="0"/>
                  <a:t>reward)</a:t>
                </a:r>
                <a:endParaRPr lang="ko-KR" alt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43C9A0-AC75-ECA9-A08B-0B42DF5C4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969" y="2424572"/>
                <a:ext cx="6096000" cy="369332"/>
              </a:xfrm>
              <a:prstGeom prst="rect">
                <a:avLst/>
              </a:prstGeom>
              <a:blipFill>
                <a:blip r:embed="rId3"/>
                <a:stretch>
                  <a:fillRect l="-800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45E56F-9424-613A-B7D2-35C5B55DFB79}"/>
                  </a:ext>
                </a:extLst>
              </p:cNvPr>
              <p:cNvSpPr txBox="1"/>
              <p:nvPr/>
            </p:nvSpPr>
            <p:spPr>
              <a:xfrm>
                <a:off x="3094493" y="3191311"/>
                <a:ext cx="2922788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𝑏𝑎𝑠𝑒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𝑒𝑛𝑑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𝑏𝑎𝑠𝑒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𝑠𝑡𝑎𝑟𝑡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45E56F-9424-613A-B7D2-35C5B55DF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4493" y="3191311"/>
                <a:ext cx="2922788" cy="3815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47BA89D-D6B7-8763-2DCF-DF8FDC04345F}"/>
                  </a:ext>
                </a:extLst>
              </p:cNvPr>
              <p:cNvSpPr txBox="1"/>
              <p:nvPr/>
            </p:nvSpPr>
            <p:spPr>
              <a:xfrm>
                <a:off x="3227119" y="4438200"/>
                <a:ext cx="2160463" cy="8714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=− </m:t>
                      </m:r>
                      <m:nary>
                        <m:naryPr>
                          <m:chr m:val="∑"/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𝑒𝑛𝑒𝑟𝑔𝑦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47BA89D-D6B7-8763-2DCF-DF8FDC043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119" y="4438200"/>
                <a:ext cx="2160463" cy="8714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82D7CAC-A6B4-70B0-155E-1B297309A16E}"/>
              </a:ext>
            </a:extLst>
          </p:cNvPr>
          <p:cNvSpPr txBox="1"/>
          <p:nvPr/>
        </p:nvSpPr>
        <p:spPr>
          <a:xfrm>
            <a:off x="3227119" y="5549866"/>
            <a:ext cx="2061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Upright </a:t>
            </a:r>
            <a:r>
              <a:rPr lang="ko-KR" altLang="en-US" dirty="0"/>
              <a:t>보상 활용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3119DD-3987-240B-60AA-F9AA62FB4087}"/>
              </a:ext>
            </a:extLst>
          </p:cNvPr>
          <p:cNvSpPr txBox="1"/>
          <p:nvPr/>
        </p:nvSpPr>
        <p:spPr>
          <a:xfrm>
            <a:off x="3094493" y="3879431"/>
            <a:ext cx="3825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전진 거리와 자세 조건 동시에 고려</a:t>
            </a:r>
          </a:p>
        </p:txBody>
      </p:sp>
    </p:spTree>
    <p:extLst>
      <p:ext uri="{BB962C8B-B14F-4D97-AF65-F5344CB8AC3E}">
        <p14:creationId xmlns:p14="http://schemas.microsoft.com/office/powerpoint/2010/main" val="1232826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71D4E-2D68-81C0-CF12-226C02854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35895-9AE3-45B8-059F-2537C6FFC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Result</a:t>
            </a:r>
            <a:endParaRPr lang="ko-KR" altLang="en-US" sz="3600" dirty="0">
              <a:latin typeface="Cambria Math" panose="020405030504060302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683D92-015C-8DCC-7173-C1508F4E54F0}"/>
              </a:ext>
            </a:extLst>
          </p:cNvPr>
          <p:cNvSpPr/>
          <p:nvPr/>
        </p:nvSpPr>
        <p:spPr>
          <a:xfrm>
            <a:off x="838200" y="1308134"/>
            <a:ext cx="4777839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F7DC6-7982-61BF-EE66-482FAD367813}"/>
              </a:ext>
            </a:extLst>
          </p:cNvPr>
          <p:cNvSpPr txBox="1"/>
          <p:nvPr/>
        </p:nvSpPr>
        <p:spPr>
          <a:xfrm>
            <a:off x="838200" y="1544246"/>
            <a:ext cx="164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Experiment 1</a:t>
            </a:r>
            <a:endParaRPr lang="ko-KR" altLang="en-US" b="1" dirty="0"/>
          </a:p>
        </p:txBody>
      </p:sp>
      <p:pic>
        <p:nvPicPr>
          <p:cNvPr id="3" name="그림 2" descr="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47215B-82D4-4CA3-07FF-85A7C591F6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13578"/>
            <a:ext cx="7886700" cy="4585443"/>
          </a:xfrm>
          <a:prstGeom prst="rect">
            <a:avLst/>
          </a:prstGeom>
        </p:spPr>
      </p:pic>
      <p:pic>
        <p:nvPicPr>
          <p:cNvPr id="7" name="그림 6" descr="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2D19CD-B623-23FA-7489-E5E2E0B1BE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800" y="4206299"/>
            <a:ext cx="4320000" cy="243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50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C2444-AB9B-2420-EBE4-55A06105D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771480-3234-4ADB-252E-ECD2ADFC7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Result</a:t>
            </a:r>
            <a:endParaRPr lang="ko-KR" altLang="en-US" sz="3600" dirty="0">
              <a:latin typeface="Cambria Math" panose="020405030504060302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FCB8EF1-5359-A03C-88A4-FF4A276B8B93}"/>
              </a:ext>
            </a:extLst>
          </p:cNvPr>
          <p:cNvSpPr/>
          <p:nvPr/>
        </p:nvSpPr>
        <p:spPr>
          <a:xfrm>
            <a:off x="838200" y="1308134"/>
            <a:ext cx="4777839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F991DF-D2B2-73B4-8E48-44E4AD9D4E46}"/>
              </a:ext>
            </a:extLst>
          </p:cNvPr>
          <p:cNvSpPr txBox="1"/>
          <p:nvPr/>
        </p:nvSpPr>
        <p:spPr>
          <a:xfrm>
            <a:off x="838200" y="1544246"/>
            <a:ext cx="164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Experiment 2</a:t>
            </a:r>
            <a:endParaRPr lang="ko-KR" altLang="en-US" b="1" dirty="0"/>
          </a:p>
        </p:txBody>
      </p:sp>
      <p:pic>
        <p:nvPicPr>
          <p:cNvPr id="6" name="그림 5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FCD11C-791B-0DA4-9C57-55E922710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913578"/>
            <a:ext cx="7975601" cy="4616760"/>
          </a:xfrm>
          <a:prstGeom prst="rect">
            <a:avLst/>
          </a:prstGeom>
        </p:spPr>
      </p:pic>
      <p:pic>
        <p:nvPicPr>
          <p:cNvPr id="8" name="그림 7" descr="새, 동물 이주, 떼, 철새 이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8C91AD-7D9A-BE9B-2737-E01FD720AF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800" y="4344085"/>
            <a:ext cx="4320000" cy="240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94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FB274-A643-05C7-55BF-D0BC63B4C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9BED9-DFCA-ACF2-4FAC-6FD9CF169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Result</a:t>
            </a:r>
            <a:endParaRPr lang="ko-KR" altLang="en-US" sz="3600" dirty="0">
              <a:latin typeface="Cambria Math" panose="020405030504060302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C6AE83-6ACA-EB7A-2CEC-6313FBAFCBA3}"/>
              </a:ext>
            </a:extLst>
          </p:cNvPr>
          <p:cNvSpPr/>
          <p:nvPr/>
        </p:nvSpPr>
        <p:spPr>
          <a:xfrm>
            <a:off x="838200" y="1308134"/>
            <a:ext cx="4777839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9BA4A-5800-20D2-49D0-705B208B81F5}"/>
              </a:ext>
            </a:extLst>
          </p:cNvPr>
          <p:cNvSpPr txBox="1"/>
          <p:nvPr/>
        </p:nvSpPr>
        <p:spPr>
          <a:xfrm>
            <a:off x="838200" y="1544246"/>
            <a:ext cx="164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Experiment 3</a:t>
            </a:r>
            <a:endParaRPr lang="ko-KR" altLang="en-US" b="1" dirty="0"/>
          </a:p>
        </p:txBody>
      </p:sp>
      <p:pic>
        <p:nvPicPr>
          <p:cNvPr id="3" name="그림 2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88573A-D04F-1D03-3925-B5455FA18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13578"/>
            <a:ext cx="8051800" cy="4581082"/>
          </a:xfrm>
          <a:prstGeom prst="rect">
            <a:avLst/>
          </a:prstGeom>
        </p:spPr>
      </p:pic>
      <p:pic>
        <p:nvPicPr>
          <p:cNvPr id="7" name="그림 6" descr="새, 동물 이주, 철새 이동, 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7A65E7-6063-8400-F6EE-4733112392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508" y="4125752"/>
            <a:ext cx="4320000" cy="236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118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8313B-90A0-DC2C-E5B6-FB527628C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426CE9-B612-01DA-0E16-F81A214D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Result</a:t>
            </a:r>
            <a:endParaRPr lang="ko-KR" altLang="en-US" sz="3600" dirty="0">
              <a:latin typeface="Cambria Math" panose="020405030504060302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4769DD-BB82-F652-4311-ABF0D57BEDAB}"/>
              </a:ext>
            </a:extLst>
          </p:cNvPr>
          <p:cNvSpPr/>
          <p:nvPr/>
        </p:nvSpPr>
        <p:spPr>
          <a:xfrm>
            <a:off x="838200" y="1308134"/>
            <a:ext cx="4777839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635003-8B22-078B-5A26-0EB926D7D01B}"/>
              </a:ext>
            </a:extLst>
          </p:cNvPr>
          <p:cNvSpPr txBox="1"/>
          <p:nvPr/>
        </p:nvSpPr>
        <p:spPr>
          <a:xfrm>
            <a:off x="838200" y="1491345"/>
            <a:ext cx="147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Total Result</a:t>
            </a:r>
            <a:endParaRPr lang="ko-KR" altLang="en-US" b="1" dirty="0"/>
          </a:p>
        </p:txBody>
      </p:sp>
      <p:pic>
        <p:nvPicPr>
          <p:cNvPr id="8" name="그림 7" descr="텍스트, 스크린샷, 도표, 그래픽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618C1D-1519-B7B0-D38D-DD9705174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07" t="16803"/>
          <a:stretch>
            <a:fillRect/>
          </a:stretch>
        </p:blipFill>
        <p:spPr>
          <a:xfrm>
            <a:off x="1959624" y="1828180"/>
            <a:ext cx="8272751" cy="5029820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DCC6785F-B5A6-7D9F-BE66-83FA13148CEC}"/>
              </a:ext>
            </a:extLst>
          </p:cNvPr>
          <p:cNvGrpSpPr/>
          <p:nvPr/>
        </p:nvGrpSpPr>
        <p:grpSpPr>
          <a:xfrm>
            <a:off x="8603742" y="4699205"/>
            <a:ext cx="1015135" cy="1421295"/>
            <a:chOff x="7800975" y="4414708"/>
            <a:chExt cx="1223021" cy="1712357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1BB2B26F-5F92-7B3D-A9CC-9CACAFDE0F67}"/>
                </a:ext>
              </a:extLst>
            </p:cNvPr>
            <p:cNvSpPr/>
            <p:nvPr/>
          </p:nvSpPr>
          <p:spPr>
            <a:xfrm>
              <a:off x="7800975" y="4456499"/>
              <a:ext cx="285750" cy="285750"/>
            </a:xfrm>
            <a:prstGeom prst="ellipse">
              <a:avLst/>
            </a:prstGeom>
            <a:solidFill>
              <a:srgbClr val="E8710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E2241AA-3791-E496-8F61-26EF03223738}"/>
                </a:ext>
              </a:extLst>
            </p:cNvPr>
            <p:cNvSpPr/>
            <p:nvPr/>
          </p:nvSpPr>
          <p:spPr>
            <a:xfrm>
              <a:off x="7800975" y="4904174"/>
              <a:ext cx="285750" cy="285750"/>
            </a:xfrm>
            <a:prstGeom prst="ellipse">
              <a:avLst/>
            </a:prstGeom>
            <a:solidFill>
              <a:srgbClr val="E525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D356D388-1132-0459-5915-0DDDC2519C8D}"/>
                </a:ext>
              </a:extLst>
            </p:cNvPr>
            <p:cNvSpPr/>
            <p:nvPr/>
          </p:nvSpPr>
          <p:spPr>
            <a:xfrm>
              <a:off x="7800975" y="5351849"/>
              <a:ext cx="285750" cy="285750"/>
            </a:xfrm>
            <a:prstGeom prst="ellipse">
              <a:avLst/>
            </a:prstGeom>
            <a:solidFill>
              <a:srgbClr val="F9AB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87D8A79-2FEA-1626-3B70-426C8AE2EBA5}"/>
                </a:ext>
              </a:extLst>
            </p:cNvPr>
            <p:cNvSpPr/>
            <p:nvPr/>
          </p:nvSpPr>
          <p:spPr>
            <a:xfrm>
              <a:off x="7800975" y="5799524"/>
              <a:ext cx="285750" cy="285750"/>
            </a:xfrm>
            <a:prstGeom prst="ellipse">
              <a:avLst/>
            </a:prstGeom>
            <a:solidFill>
              <a:srgbClr val="9333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3CF68DF-369A-4582-3254-3B1FA85D1D24}"/>
                </a:ext>
              </a:extLst>
            </p:cNvPr>
            <p:cNvSpPr txBox="1"/>
            <p:nvPr/>
          </p:nvSpPr>
          <p:spPr>
            <a:xfrm>
              <a:off x="8169275" y="4414708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실험 </a:t>
              </a:r>
              <a:r>
                <a:rPr lang="en-US" altLang="ko-KR" dirty="0">
                  <a:solidFill>
                    <a:schemeClr val="bg1"/>
                  </a:solidFill>
                </a:rPr>
                <a:t>1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314703-1E6D-4C80-7E06-1BF32B0EE04A}"/>
                </a:ext>
              </a:extLst>
            </p:cNvPr>
            <p:cNvSpPr txBox="1"/>
            <p:nvPr/>
          </p:nvSpPr>
          <p:spPr>
            <a:xfrm>
              <a:off x="8169275" y="4862383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실험 </a:t>
              </a:r>
              <a:r>
                <a:rPr lang="en-US" altLang="ko-KR" dirty="0">
                  <a:solidFill>
                    <a:schemeClr val="bg1"/>
                  </a:solidFill>
                </a:rPr>
                <a:t>2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2FC321F-AABF-C2FB-52F7-076E77351B87}"/>
                </a:ext>
              </a:extLst>
            </p:cNvPr>
            <p:cNvSpPr txBox="1"/>
            <p:nvPr/>
          </p:nvSpPr>
          <p:spPr>
            <a:xfrm>
              <a:off x="8169274" y="5310058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실험 </a:t>
              </a:r>
              <a:r>
                <a:rPr lang="en-US" altLang="ko-KR" dirty="0">
                  <a:solidFill>
                    <a:schemeClr val="bg1"/>
                  </a:solidFill>
                </a:rPr>
                <a:t>3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6647921-4CFE-EE18-6F39-90ED92205820}"/>
                </a:ext>
              </a:extLst>
            </p:cNvPr>
            <p:cNvSpPr txBox="1"/>
            <p:nvPr/>
          </p:nvSpPr>
          <p:spPr>
            <a:xfrm>
              <a:off x="8169273" y="5757733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실험 </a:t>
              </a:r>
              <a:r>
                <a:rPr lang="en-US" altLang="ko-KR" dirty="0">
                  <a:solidFill>
                    <a:schemeClr val="bg1"/>
                  </a:solidFill>
                </a:rPr>
                <a:t>4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4139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C0B0C-9021-D641-E4F2-DF7E5A4C8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F0127-0B5D-E148-B51D-D1552A28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Result</a:t>
            </a:r>
            <a:endParaRPr lang="ko-KR" altLang="en-US" sz="3600" dirty="0">
              <a:latin typeface="Cambria Math" panose="020405030504060302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2BB85B-AB38-D1E3-4617-24C36422E5FD}"/>
              </a:ext>
            </a:extLst>
          </p:cNvPr>
          <p:cNvSpPr/>
          <p:nvPr/>
        </p:nvSpPr>
        <p:spPr>
          <a:xfrm>
            <a:off x="838200" y="1308134"/>
            <a:ext cx="4777839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텍스트, 스크린샷, 도표, 그래픽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94666B-D219-2080-ACAA-6E909909F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81" t="58997" r="57302" b="13247"/>
          <a:stretch>
            <a:fillRect/>
          </a:stretch>
        </p:blipFill>
        <p:spPr>
          <a:xfrm>
            <a:off x="6527797" y="1393541"/>
            <a:ext cx="3592945" cy="3048199"/>
          </a:xfrm>
          <a:prstGeom prst="rect">
            <a:avLst/>
          </a:prstGeom>
        </p:spPr>
      </p:pic>
      <p:pic>
        <p:nvPicPr>
          <p:cNvPr id="6" name="그림 5" descr="텍스트, 스크린샷, 도표, 그래픽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560236-F56F-5F72-297D-53E0113FF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34" t="59674" r="38449" b="13084"/>
          <a:stretch>
            <a:fillRect/>
          </a:stretch>
        </p:blipFill>
        <p:spPr>
          <a:xfrm>
            <a:off x="838200" y="1393541"/>
            <a:ext cx="3660877" cy="30481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90AC93-9FBE-0376-9E6E-561693507F18}"/>
              </a:ext>
            </a:extLst>
          </p:cNvPr>
          <p:cNvSpPr txBox="1"/>
          <p:nvPr/>
        </p:nvSpPr>
        <p:spPr>
          <a:xfrm>
            <a:off x="838200" y="4797308"/>
            <a:ext cx="3491349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/>
              <a:t>실험 </a:t>
            </a:r>
            <a:r>
              <a:rPr lang="en-US" altLang="ko-KR" sz="1600" b="1" dirty="0"/>
              <a:t>4 </a:t>
            </a:r>
            <a:r>
              <a:rPr lang="en-US" altLang="ko-KR" sz="1600" dirty="0"/>
              <a:t>&gt; </a:t>
            </a:r>
            <a:r>
              <a:rPr lang="ko-KR" altLang="en-US" sz="1600" b="1" dirty="0"/>
              <a:t>실험 </a:t>
            </a:r>
            <a:r>
              <a:rPr lang="en-US" altLang="ko-KR" sz="1600" b="1" dirty="0"/>
              <a:t>2</a:t>
            </a:r>
            <a:r>
              <a:rPr lang="en-US" altLang="ko-KR" sz="1600" dirty="0"/>
              <a:t> &gt; </a:t>
            </a:r>
            <a:r>
              <a:rPr lang="ko-KR" altLang="en-US" sz="1600" b="1" dirty="0"/>
              <a:t>실험 </a:t>
            </a:r>
            <a:r>
              <a:rPr lang="en-US" altLang="ko-KR" sz="1600" b="1" dirty="0"/>
              <a:t>3</a:t>
            </a:r>
            <a:r>
              <a:rPr lang="en-US" altLang="ko-KR" sz="1600" dirty="0"/>
              <a:t> &gt; </a:t>
            </a:r>
            <a:r>
              <a:rPr lang="ko-KR" altLang="en-US" sz="1600" b="1" dirty="0"/>
              <a:t>실험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 </a:t>
            </a:r>
            <a:r>
              <a:rPr lang="ko-KR" altLang="en-US" sz="1600" dirty="0"/>
              <a:t>순서로 </a:t>
            </a:r>
            <a:r>
              <a:rPr lang="en-US" altLang="ko-KR" sz="1600" dirty="0"/>
              <a:t>progress</a:t>
            </a:r>
            <a:r>
              <a:rPr lang="ko-KR" altLang="en-US" sz="1600" dirty="0"/>
              <a:t>가 높다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8E9A81-543F-B5D0-675B-53252F8C281D}"/>
              </a:ext>
            </a:extLst>
          </p:cNvPr>
          <p:cNvSpPr txBox="1"/>
          <p:nvPr/>
        </p:nvSpPr>
        <p:spPr>
          <a:xfrm>
            <a:off x="838200" y="5556552"/>
            <a:ext cx="3777677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/>
              <a:t>실험 </a:t>
            </a:r>
            <a:r>
              <a:rPr lang="en-US" altLang="ko-KR" sz="1600" b="1" dirty="0"/>
              <a:t>1</a:t>
            </a:r>
            <a:r>
              <a:rPr lang="ko-KR" altLang="en-US" sz="1600" dirty="0"/>
              <a:t>은 나아가지 못하고 제자리에서 흔들리거나 뒤로 가는 모습을 보임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4D7258-1C1C-E38F-98AB-EC077E784115}"/>
              </a:ext>
            </a:extLst>
          </p:cNvPr>
          <p:cNvSpPr txBox="1"/>
          <p:nvPr/>
        </p:nvSpPr>
        <p:spPr>
          <a:xfrm>
            <a:off x="6287653" y="4797308"/>
            <a:ext cx="3491349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/>
              <a:t>실험 </a:t>
            </a:r>
            <a:r>
              <a:rPr lang="en-US" altLang="ko-KR" sz="1600" b="1" dirty="0"/>
              <a:t>4 </a:t>
            </a:r>
            <a:r>
              <a:rPr lang="en-US" altLang="ko-KR" sz="1600" dirty="0"/>
              <a:t>&gt; </a:t>
            </a:r>
            <a:r>
              <a:rPr lang="ko-KR" altLang="en-US" sz="1600" b="1" dirty="0"/>
              <a:t>실험 </a:t>
            </a:r>
            <a:r>
              <a:rPr lang="en-US" altLang="ko-KR" sz="1600" b="1" dirty="0"/>
              <a:t>3 </a:t>
            </a:r>
            <a:r>
              <a:rPr lang="en-US" altLang="ko-KR" sz="1600" dirty="0"/>
              <a:t>&gt; </a:t>
            </a:r>
            <a:r>
              <a:rPr lang="ko-KR" altLang="en-US" sz="1600" b="1" dirty="0"/>
              <a:t>실험 </a:t>
            </a:r>
            <a:r>
              <a:rPr lang="en-US" altLang="ko-KR" sz="1600" b="1" dirty="0"/>
              <a:t>2 </a:t>
            </a:r>
            <a:r>
              <a:rPr lang="en-US" altLang="ko-KR" sz="1600" dirty="0"/>
              <a:t>&gt; </a:t>
            </a:r>
            <a:r>
              <a:rPr lang="ko-KR" altLang="en-US" sz="1600" b="1" dirty="0"/>
              <a:t>실험 </a:t>
            </a:r>
            <a:r>
              <a:rPr lang="en-US" altLang="ko-KR" sz="1600" b="1" dirty="0"/>
              <a:t>1</a:t>
            </a:r>
            <a:r>
              <a:rPr lang="ko-KR" altLang="en-US" sz="1600" dirty="0"/>
              <a:t> 순서로 </a:t>
            </a:r>
            <a:r>
              <a:rPr lang="en-US" altLang="ko-KR" sz="1600" dirty="0" err="1"/>
              <a:t>move_to_target</a:t>
            </a:r>
            <a:r>
              <a:rPr lang="ko-KR" altLang="en-US" sz="1600" dirty="0"/>
              <a:t>이 높다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B1662B-1034-94F2-16D5-605F8EE17020}"/>
              </a:ext>
            </a:extLst>
          </p:cNvPr>
          <p:cNvSpPr txBox="1"/>
          <p:nvPr/>
        </p:nvSpPr>
        <p:spPr>
          <a:xfrm>
            <a:off x="6287653" y="5623394"/>
            <a:ext cx="459970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/>
              <a:t>실험 </a:t>
            </a:r>
            <a:r>
              <a:rPr lang="en-US" altLang="ko-KR" sz="1600" b="1" dirty="0"/>
              <a:t>2</a:t>
            </a:r>
            <a:r>
              <a:rPr lang="ko-KR" altLang="en-US" sz="1600" dirty="0"/>
              <a:t>가 가장 빠르게 나아가는 모습을 보임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94252B-D67B-3A38-F868-559DB89AFA16}"/>
              </a:ext>
            </a:extLst>
          </p:cNvPr>
          <p:cNvSpPr txBox="1"/>
          <p:nvPr/>
        </p:nvSpPr>
        <p:spPr>
          <a:xfrm>
            <a:off x="6287653" y="5948230"/>
            <a:ext cx="459970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/>
              <a:t>실험 </a:t>
            </a:r>
            <a:r>
              <a:rPr lang="en-US" altLang="ko-KR" sz="1600" b="1" dirty="0"/>
              <a:t>1</a:t>
            </a:r>
            <a:r>
              <a:rPr lang="ko-KR" altLang="en-US" sz="1600" dirty="0"/>
              <a:t>은 제대로 나아가지 못하는 모습을 보임</a:t>
            </a:r>
          </a:p>
        </p:txBody>
      </p:sp>
    </p:spTree>
    <p:extLst>
      <p:ext uri="{BB962C8B-B14F-4D97-AF65-F5344CB8AC3E}">
        <p14:creationId xmlns:p14="http://schemas.microsoft.com/office/powerpoint/2010/main" val="1029705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AF7E9-322B-03A0-1B17-8D9136B6E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B81D74-328F-BCC7-60C7-A2B3B6DDC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Result</a:t>
            </a:r>
            <a:endParaRPr lang="ko-KR" altLang="en-US" sz="3600" dirty="0">
              <a:latin typeface="Cambria Math" panose="020405030504060302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F0820D-A6BC-ABE1-B0C4-8D34CB956EB5}"/>
              </a:ext>
            </a:extLst>
          </p:cNvPr>
          <p:cNvSpPr/>
          <p:nvPr/>
        </p:nvSpPr>
        <p:spPr>
          <a:xfrm>
            <a:off x="838200" y="1308134"/>
            <a:ext cx="4777839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C2386-694A-5DB8-C2A7-2AE1D2672B29}"/>
              </a:ext>
            </a:extLst>
          </p:cNvPr>
          <p:cNvSpPr txBox="1"/>
          <p:nvPr/>
        </p:nvSpPr>
        <p:spPr>
          <a:xfrm>
            <a:off x="838200" y="1995488"/>
            <a:ext cx="101981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본 프로젝트에서는 </a:t>
            </a:r>
            <a:r>
              <a:rPr lang="en-US" altLang="ko-KR" dirty="0"/>
              <a:t>Ant </a:t>
            </a:r>
            <a:r>
              <a:rPr lang="ko-KR" altLang="en-US" dirty="0"/>
              <a:t>보행 정책의 품질을 평가하기 위해</a:t>
            </a:r>
            <a:r>
              <a:rPr lang="en-US" altLang="ko-KR" dirty="0"/>
              <a:t>, </a:t>
            </a:r>
            <a:r>
              <a:rPr lang="ko-KR" altLang="en-US" dirty="0"/>
              <a:t>전체 리워드 중에서도 특히 </a:t>
            </a:r>
            <a:r>
              <a:rPr lang="en-US" altLang="ko-KR" b="1" dirty="0" err="1"/>
              <a:t>move_to_target</a:t>
            </a:r>
            <a:r>
              <a:rPr lang="ko-KR" altLang="en-US" dirty="0"/>
              <a:t>과 </a:t>
            </a:r>
            <a:r>
              <a:rPr lang="en-US" altLang="ko-KR" b="1" dirty="0"/>
              <a:t>progress</a:t>
            </a:r>
            <a:r>
              <a:rPr lang="ko-KR" altLang="en-US" dirty="0"/>
              <a:t> 항목에 주목하였다</a:t>
            </a:r>
            <a:r>
              <a:rPr lang="en-US" altLang="ko-KR" dirty="0"/>
              <a:t>.</a:t>
            </a:r>
            <a:endParaRPr lang="ko-KR" alt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이 두 항목을 함께 분석함으로써</a:t>
            </a:r>
            <a:r>
              <a:rPr lang="en-US" altLang="ko-KR" dirty="0"/>
              <a:t>, </a:t>
            </a:r>
            <a:r>
              <a:rPr lang="ko-KR" altLang="en-US" dirty="0"/>
              <a:t>정책이 단순히 “빨리 </a:t>
            </a:r>
            <a:r>
              <a:rPr lang="ko-KR" altLang="en-US" dirty="0" err="1"/>
              <a:t>달리는지”뿐만</a:t>
            </a:r>
            <a:r>
              <a:rPr lang="ko-KR" altLang="en-US" dirty="0"/>
              <a:t> 아니라 “</a:t>
            </a:r>
            <a:r>
              <a:rPr lang="ko-KR" altLang="en-US" b="1" dirty="0"/>
              <a:t>올바른 방향으로</a:t>
            </a:r>
            <a:r>
              <a:rPr lang="en-US" altLang="ko-KR" b="1" dirty="0"/>
              <a:t>, </a:t>
            </a:r>
            <a:r>
              <a:rPr lang="ko-KR" altLang="en-US" b="1" dirty="0"/>
              <a:t>바르게 </a:t>
            </a:r>
            <a:r>
              <a:rPr lang="ko-KR" altLang="en-US" b="1" dirty="0" err="1"/>
              <a:t>달리는지</a:t>
            </a:r>
            <a:r>
              <a:rPr lang="ko-KR" altLang="en-US" dirty="0" err="1"/>
              <a:t>”까지</a:t>
            </a:r>
            <a:r>
              <a:rPr lang="ko-KR" altLang="en-US" dirty="0"/>
              <a:t> 평가할 수 있었다</a:t>
            </a:r>
            <a:r>
              <a:rPr lang="en-US" altLang="ko-KR" dirty="0"/>
              <a:t>.</a:t>
            </a:r>
            <a:endParaRPr lang="ko-KR" alt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PPO hyperparameter</a:t>
            </a:r>
            <a:r>
              <a:rPr lang="ko-KR" altLang="en-US" dirty="0"/>
              <a:t>는 단순히 수렴 속도만이 아니라</a:t>
            </a:r>
            <a:r>
              <a:rPr lang="en-US" altLang="ko-KR" dirty="0"/>
              <a:t>, progress</a:t>
            </a:r>
            <a:r>
              <a:rPr lang="ko-KR" altLang="en-US" dirty="0"/>
              <a:t>와 </a:t>
            </a:r>
            <a:r>
              <a:rPr lang="en-US" altLang="ko-KR" dirty="0" err="1"/>
              <a:t>move_to_target</a:t>
            </a:r>
            <a:r>
              <a:rPr lang="en-US" altLang="ko-KR" dirty="0"/>
              <a:t> </a:t>
            </a:r>
            <a:r>
              <a:rPr lang="ko-KR" altLang="en-US" dirty="0"/>
              <a:t>항목의 시간적 패턴에도 영향을 미친다</a:t>
            </a:r>
            <a:r>
              <a:rPr lang="en-US" altLang="ko-KR" dirty="0"/>
              <a:t>. </a:t>
            </a:r>
            <a:r>
              <a:rPr lang="ko-KR" altLang="en-US" dirty="0"/>
              <a:t>예를 들어 </a:t>
            </a:r>
            <a:r>
              <a:rPr lang="ko-KR" altLang="en-US" dirty="0" err="1"/>
              <a:t>학습률</a:t>
            </a:r>
            <a:r>
              <a:rPr lang="en-US" altLang="ko-KR" dirty="0"/>
              <a:t>, </a:t>
            </a:r>
            <a:r>
              <a:rPr lang="en-US" altLang="ko-KR" dirty="0" err="1"/>
              <a:t>clip_param</a:t>
            </a:r>
            <a:r>
              <a:rPr lang="en-US" altLang="ko-KR" dirty="0"/>
              <a:t>, entropy </a:t>
            </a:r>
            <a:r>
              <a:rPr lang="ko-KR" altLang="en-US" dirty="0"/>
              <a:t>계수와 같은 값들은 정책이 얼마나 공격적으로 갱신되는지를 결정한다</a:t>
            </a:r>
            <a:r>
              <a:rPr lang="en-US" altLang="ko-KR" dirty="0"/>
              <a:t>.</a:t>
            </a:r>
            <a:endParaRPr lang="ko-KR" alt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이는 곧 학습 초기에 </a:t>
            </a:r>
            <a:r>
              <a:rPr lang="en-US" altLang="ko-KR" dirty="0"/>
              <a:t>progress</a:t>
            </a:r>
            <a:r>
              <a:rPr lang="ko-KR" altLang="en-US" dirty="0"/>
              <a:t>가 얼마나 빠르게 증가하는지</a:t>
            </a:r>
            <a:r>
              <a:rPr lang="en-US" altLang="ko-KR" dirty="0"/>
              <a:t>, </a:t>
            </a:r>
            <a:r>
              <a:rPr lang="ko-KR" altLang="en-US" dirty="0"/>
              <a:t>그리고 학습 후반에 </a:t>
            </a:r>
            <a:r>
              <a:rPr lang="en-US" altLang="ko-KR" dirty="0" err="1"/>
              <a:t>move_to_target</a:t>
            </a:r>
            <a:r>
              <a:rPr lang="en-US" altLang="ko-KR" dirty="0"/>
              <a:t> </a:t>
            </a:r>
            <a:r>
              <a:rPr lang="ko-KR" altLang="en-US" dirty="0"/>
              <a:t>값이 얼마나 안정적으로 유지되는지에 직간접적인 영향을 준다</a:t>
            </a:r>
            <a:r>
              <a:rPr lang="en-US" altLang="ko-KR" dirty="0"/>
              <a:t>. </a:t>
            </a:r>
            <a:endParaRPr lang="ko-KR" alt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Trade off</a:t>
            </a:r>
            <a:r>
              <a:rPr lang="ko-KR" altLang="en-US" dirty="0"/>
              <a:t> 역시 </a:t>
            </a:r>
            <a:r>
              <a:rPr lang="en-US" altLang="ko-KR" dirty="0" err="1"/>
              <a:t>move_to_target</a:t>
            </a:r>
            <a:r>
              <a:rPr lang="ko-KR" altLang="en-US" dirty="0"/>
              <a:t>와 </a:t>
            </a:r>
            <a:r>
              <a:rPr lang="en-US" altLang="ko-KR" dirty="0"/>
              <a:t>progress</a:t>
            </a:r>
            <a:r>
              <a:rPr lang="ko-KR" altLang="en-US" dirty="0"/>
              <a:t>를 통해 명확하게 확인할 수 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에너지 관련 </a:t>
            </a:r>
            <a:r>
              <a:rPr lang="ko-KR" altLang="en-US" dirty="0" err="1"/>
              <a:t>패널티</a:t>
            </a:r>
            <a:r>
              <a:rPr lang="en-US" altLang="ko-KR" dirty="0"/>
              <a:t>(actionI2, energy)</a:t>
            </a:r>
            <a:r>
              <a:rPr lang="ko-KR" altLang="en-US" dirty="0"/>
              <a:t>를 강하게 줄 경우</a:t>
            </a:r>
            <a:r>
              <a:rPr lang="en-US" altLang="ko-KR" dirty="0"/>
              <a:t>, </a:t>
            </a:r>
            <a:r>
              <a:rPr lang="ko-KR" altLang="en-US" dirty="0"/>
              <a:t>정책은 동일한 </a:t>
            </a:r>
            <a:r>
              <a:rPr lang="en-US" altLang="ko-KR" dirty="0"/>
              <a:t>progress</a:t>
            </a:r>
            <a:r>
              <a:rPr lang="ko-KR" altLang="en-US" dirty="0"/>
              <a:t>를 유지하기 위해 관절 명령을 더 신중하게 사용하게 된다</a:t>
            </a:r>
            <a:r>
              <a:rPr lang="en-US" altLang="ko-KR" dirty="0"/>
              <a:t>.</a:t>
            </a:r>
            <a:endParaRPr lang="ko-KR" alt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upright </a:t>
            </a:r>
            <a:r>
              <a:rPr lang="ko-KR" altLang="en-US" b="1" dirty="0"/>
              <a:t>및 </a:t>
            </a:r>
            <a:r>
              <a:rPr lang="en-US" altLang="ko-KR" b="1" dirty="0"/>
              <a:t>alive </a:t>
            </a:r>
            <a:r>
              <a:rPr lang="ko-KR" altLang="en-US" b="1" dirty="0"/>
              <a:t>보상과의 상호 작용</a:t>
            </a:r>
            <a:r>
              <a:rPr lang="ko-KR" altLang="en-US" dirty="0"/>
              <a:t>도 중요하다</a:t>
            </a:r>
            <a:r>
              <a:rPr lang="en-US" altLang="ko-KR" dirty="0"/>
              <a:t>. Ant</a:t>
            </a:r>
            <a:r>
              <a:rPr lang="ko-KR" altLang="en-US" dirty="0"/>
              <a:t>가 자세를 잘 유지하지 못하고 자주 넘어지는 경우</a:t>
            </a:r>
            <a:r>
              <a:rPr lang="en-US" altLang="ko-KR" dirty="0"/>
              <a:t>, progress</a:t>
            </a:r>
            <a:r>
              <a:rPr lang="ko-KR" altLang="en-US" dirty="0"/>
              <a:t>와 </a:t>
            </a:r>
            <a:r>
              <a:rPr lang="en-US" altLang="ko-KR" dirty="0" err="1"/>
              <a:t>move_to_target</a:t>
            </a:r>
            <a:r>
              <a:rPr lang="ko-KR" altLang="en-US" dirty="0"/>
              <a:t>는 에피소드 후반부에 급격히 감소하게 되며</a:t>
            </a:r>
            <a:r>
              <a:rPr lang="en-US" altLang="ko-KR" dirty="0"/>
              <a:t>, </a:t>
            </a:r>
            <a:r>
              <a:rPr lang="ko-KR" altLang="en-US" dirty="0"/>
              <a:t>이는 </a:t>
            </a:r>
            <a:r>
              <a:rPr lang="en-US" altLang="ko-KR" dirty="0"/>
              <a:t>policy</a:t>
            </a:r>
            <a:r>
              <a:rPr lang="ko-KR" altLang="en-US" dirty="0"/>
              <a:t>가 전진만을 추구하다가 안정성을 잃고 있음을 의미한다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0632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5BF4C-8FD1-7ABC-A863-4B0B28958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230A4-0BDE-6FDD-B7A5-81B33B444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Cambria Math" panose="02040503050406030204" pitchFamily="18" charset="0"/>
              </a:rPr>
              <a:t>Discussion</a:t>
            </a:r>
            <a:endParaRPr lang="ko-KR" altLang="en-US" sz="3600" dirty="0">
              <a:latin typeface="Cambria Math" panose="020405030504060302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5DDE4F-C449-ACE9-FDF9-61F826A6C799}"/>
              </a:ext>
            </a:extLst>
          </p:cNvPr>
          <p:cNvSpPr/>
          <p:nvPr/>
        </p:nvSpPr>
        <p:spPr>
          <a:xfrm>
            <a:off x="838200" y="1308134"/>
            <a:ext cx="4777839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32170E-CAB9-FC67-2EEE-023BC71EC630}"/>
              </a:ext>
            </a:extLst>
          </p:cNvPr>
          <p:cNvSpPr txBox="1"/>
          <p:nvPr/>
        </p:nvSpPr>
        <p:spPr>
          <a:xfrm>
            <a:off x="838200" y="1422136"/>
            <a:ext cx="10198100" cy="3653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dirty="0"/>
              <a:t>본 프로젝트는 </a:t>
            </a:r>
            <a:r>
              <a:rPr lang="en-US" altLang="ko-KR" dirty="0"/>
              <a:t>Isaac Lab Ant </a:t>
            </a:r>
            <a:r>
              <a:rPr lang="ko-KR" altLang="en-US" dirty="0"/>
              <a:t>환경과 </a:t>
            </a:r>
            <a:r>
              <a:rPr lang="en-US" altLang="ko-KR" dirty="0"/>
              <a:t>PPO </a:t>
            </a:r>
            <a:r>
              <a:rPr lang="ko-KR" altLang="en-US" dirty="0"/>
              <a:t>알고리즘을 대상으로 </a:t>
            </a:r>
            <a:r>
              <a:rPr lang="en-US" altLang="ko-KR" dirty="0"/>
              <a:t>reward </a:t>
            </a:r>
            <a:r>
              <a:rPr lang="ko-KR" altLang="en-US" dirty="0"/>
              <a:t>구성과 </a:t>
            </a:r>
            <a:r>
              <a:rPr lang="en-US" altLang="ko-KR" dirty="0"/>
              <a:t>hyperparameter</a:t>
            </a:r>
            <a:r>
              <a:rPr lang="ko-KR" altLang="en-US" dirty="0"/>
              <a:t>를 조정을 실험한 사례 연구이지만</a:t>
            </a:r>
            <a:r>
              <a:rPr lang="en-US" altLang="ko-KR" dirty="0"/>
              <a:t>, </a:t>
            </a:r>
            <a:r>
              <a:rPr lang="ko-KR" altLang="en-US" dirty="0"/>
              <a:t>다음과 같은 한계점이 존재한다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b="1" dirty="0"/>
              <a:t>단일 환경</a:t>
            </a:r>
            <a:r>
              <a:rPr lang="en-US" altLang="ko-KR" b="1" dirty="0"/>
              <a:t>, </a:t>
            </a:r>
            <a:r>
              <a:rPr lang="ko-KR" altLang="en-US" b="1" dirty="0"/>
              <a:t>단일 알고리즘에 대한 분석</a:t>
            </a:r>
          </a:p>
          <a:p>
            <a:pPr lvl="1">
              <a:lnSpc>
                <a:spcPct val="130000"/>
              </a:lnSpc>
            </a:pPr>
            <a:r>
              <a:rPr lang="ko-KR" altLang="en-US" dirty="0"/>
              <a:t>모든 실험이 </a:t>
            </a:r>
            <a:r>
              <a:rPr lang="en-US" altLang="ko-KR" dirty="0"/>
              <a:t>Ant </a:t>
            </a:r>
            <a:r>
              <a:rPr lang="ko-KR" altLang="en-US" dirty="0"/>
              <a:t>환경과 </a:t>
            </a:r>
            <a:r>
              <a:rPr lang="en-US" altLang="ko-KR" dirty="0"/>
              <a:t>PPO</a:t>
            </a:r>
            <a:r>
              <a:rPr lang="ko-KR" altLang="en-US" dirty="0"/>
              <a:t>에 제한되어 있어</a:t>
            </a:r>
            <a:r>
              <a:rPr lang="en-US" altLang="ko-KR" dirty="0"/>
              <a:t>, </a:t>
            </a:r>
            <a:r>
              <a:rPr lang="ko-KR" altLang="en-US" dirty="0"/>
              <a:t>여기서 얻은 관찰 결과가 다른 로봇 형태나 다른 알고리즘에도 그대로 일반화된다고 보기는 어렵다</a:t>
            </a:r>
            <a:r>
              <a:rPr lang="en-US" altLang="ko-KR" dirty="0"/>
              <a:t>. </a:t>
            </a:r>
            <a:r>
              <a:rPr lang="ko-KR" altLang="en-US" dirty="0"/>
              <a:t>동일한 구조를 다른 환경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Humanoid, </a:t>
            </a:r>
            <a:r>
              <a:rPr lang="en-US" altLang="ko-KR" dirty="0" err="1"/>
              <a:t>ANYmal</a:t>
            </a:r>
            <a:r>
              <a:rPr lang="en-US" altLang="ko-KR" dirty="0"/>
              <a:t>)</a:t>
            </a:r>
            <a:r>
              <a:rPr lang="ko-KR" altLang="en-US" dirty="0"/>
              <a:t>에 적용하여 비교하는 추가 연구가 필요하다</a:t>
            </a:r>
            <a:r>
              <a:rPr lang="en-US" altLang="ko-KR" dirty="0"/>
              <a:t>.</a:t>
            </a:r>
            <a:endParaRPr lang="ko-KR" altLang="en-US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b="1" dirty="0"/>
              <a:t>정량 분석의 범위 제한</a:t>
            </a:r>
          </a:p>
          <a:p>
            <a:pPr lvl="1">
              <a:lnSpc>
                <a:spcPct val="130000"/>
              </a:lnSpc>
            </a:pPr>
            <a:r>
              <a:rPr lang="ko-KR" altLang="en-US" dirty="0"/>
              <a:t>향후에는 보행 궤적을 시간에 따라 시각화하고</a:t>
            </a:r>
            <a:r>
              <a:rPr lang="en-US" altLang="ko-KR" dirty="0"/>
              <a:t>, </a:t>
            </a:r>
            <a:r>
              <a:rPr lang="ko-KR" altLang="en-US" b="1" dirty="0"/>
              <a:t>기하학적</a:t>
            </a:r>
            <a:r>
              <a:rPr lang="en-US" altLang="ko-KR" b="1" dirty="0"/>
              <a:t>, </a:t>
            </a:r>
            <a:r>
              <a:rPr lang="ko-KR" altLang="en-US" b="1" dirty="0"/>
              <a:t>동역학적 지표</a:t>
            </a:r>
            <a:r>
              <a:rPr lang="ko-KR" altLang="en-US" dirty="0"/>
              <a:t>까지 포함하여 주기성 분석이나 주파수 분석 등을 통해 </a:t>
            </a:r>
            <a:r>
              <a:rPr lang="en-US" altLang="ko-KR" dirty="0"/>
              <a:t>policy</a:t>
            </a:r>
            <a:r>
              <a:rPr lang="ko-KR" altLang="en-US" dirty="0"/>
              <a:t>가 만들어낸 보행 패턴을 더 정밀하게 평가할 필요가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66BD68-623B-B6A1-E1D3-AEF6265553B2}"/>
              </a:ext>
            </a:extLst>
          </p:cNvPr>
          <p:cNvSpPr/>
          <p:nvPr/>
        </p:nvSpPr>
        <p:spPr>
          <a:xfrm>
            <a:off x="704850" y="5144048"/>
            <a:ext cx="10782300" cy="162055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ko-KR" altLang="en-US" dirty="0">
                <a:solidFill>
                  <a:schemeClr val="tx1"/>
                </a:solidFill>
              </a:rPr>
              <a:t>그럼에도 불구하고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본 프로젝트는 </a:t>
            </a:r>
            <a:r>
              <a:rPr lang="en-US" altLang="ko-KR" dirty="0">
                <a:solidFill>
                  <a:schemeClr val="tx1"/>
                </a:solidFill>
              </a:rPr>
              <a:t>Isaac Lab </a:t>
            </a:r>
            <a:r>
              <a:rPr lang="ko-KR" altLang="en-US" dirty="0">
                <a:solidFill>
                  <a:schemeClr val="tx1"/>
                </a:solidFill>
              </a:rPr>
              <a:t>기반 </a:t>
            </a:r>
            <a:r>
              <a:rPr lang="en-US" altLang="ko-KR" dirty="0">
                <a:solidFill>
                  <a:schemeClr val="tx1"/>
                </a:solidFill>
              </a:rPr>
              <a:t>Ant </a:t>
            </a:r>
            <a:r>
              <a:rPr lang="ko-KR" altLang="en-US" dirty="0">
                <a:solidFill>
                  <a:schemeClr val="tx1"/>
                </a:solidFill>
              </a:rPr>
              <a:t>환경에서 </a:t>
            </a:r>
            <a:r>
              <a:rPr lang="en-US" altLang="ko-KR" b="1" dirty="0">
                <a:solidFill>
                  <a:schemeClr val="tx1"/>
                </a:solidFill>
              </a:rPr>
              <a:t>progress</a:t>
            </a:r>
            <a:r>
              <a:rPr lang="ko-KR" altLang="en-US" dirty="0">
                <a:solidFill>
                  <a:schemeClr val="tx1"/>
                </a:solidFill>
              </a:rPr>
              <a:t>와 </a:t>
            </a:r>
            <a:r>
              <a:rPr lang="en-US" altLang="ko-KR" b="1" dirty="0" err="1">
                <a:solidFill>
                  <a:schemeClr val="tx1"/>
                </a:solidFill>
              </a:rPr>
              <a:t>move_to_target</a:t>
            </a:r>
            <a:r>
              <a:rPr lang="ko-KR" altLang="en-US" dirty="0">
                <a:solidFill>
                  <a:schemeClr val="tx1"/>
                </a:solidFill>
              </a:rPr>
              <a:t>을 핵심 지표로 삼아</a:t>
            </a:r>
            <a:r>
              <a:rPr lang="en-US" altLang="ko-KR" dirty="0">
                <a:solidFill>
                  <a:schemeClr val="tx1"/>
                </a:solidFill>
              </a:rPr>
              <a:t>, PPO </a:t>
            </a:r>
            <a:r>
              <a:rPr lang="ko-KR" altLang="en-US" dirty="0">
                <a:solidFill>
                  <a:schemeClr val="tx1"/>
                </a:solidFill>
              </a:rPr>
              <a:t>정책의 학습 과정을 구조적으로 분석했다는 점에서 의의를 가진다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dirty="0">
                <a:solidFill>
                  <a:schemeClr val="tx1"/>
                </a:solidFill>
              </a:rPr>
              <a:t>Policy</a:t>
            </a:r>
            <a:r>
              <a:rPr lang="ko-KR" altLang="en-US" dirty="0">
                <a:solidFill>
                  <a:schemeClr val="tx1"/>
                </a:solidFill>
              </a:rPr>
              <a:t>가 </a:t>
            </a:r>
            <a:r>
              <a:rPr lang="ko-KR" alt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속도</a:t>
            </a:r>
            <a:r>
              <a:rPr lang="en-US" altLang="ko-KR" b="1" dirty="0">
                <a:solidFill>
                  <a:schemeClr val="tx1"/>
                </a:solidFill>
                <a:highlight>
                  <a:srgbClr val="FFFF00"/>
                </a:highlight>
              </a:rPr>
              <a:t>, </a:t>
            </a:r>
            <a:r>
              <a:rPr lang="ko-KR" alt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방향성</a:t>
            </a:r>
            <a:r>
              <a:rPr lang="en-US" altLang="ko-KR" b="1" dirty="0">
                <a:solidFill>
                  <a:schemeClr val="tx1"/>
                </a:solidFill>
                <a:highlight>
                  <a:srgbClr val="FFFF00"/>
                </a:highlight>
              </a:rPr>
              <a:t>, </a:t>
            </a:r>
            <a:r>
              <a:rPr lang="ko-KR" alt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안정성</a:t>
            </a:r>
            <a:r>
              <a:rPr lang="en-US" altLang="ko-KR" b="1" dirty="0">
                <a:solidFill>
                  <a:schemeClr val="tx1"/>
                </a:solidFill>
                <a:highlight>
                  <a:srgbClr val="FFFF00"/>
                </a:highlight>
              </a:rPr>
              <a:t>, </a:t>
            </a:r>
            <a:r>
              <a:rPr lang="ko-KR" alt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에너지 효율</a:t>
            </a:r>
            <a:r>
              <a:rPr lang="ko-KR" altLang="en-US" dirty="0">
                <a:solidFill>
                  <a:schemeClr val="tx1"/>
                </a:solidFill>
              </a:rPr>
              <a:t> 사이에서 어떤 절충을 학습하고 있는지를 보다 명확하게 이해할 수 있었다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219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1351</Words>
  <Application>Microsoft Office PowerPoint</Application>
  <PresentationFormat>와이드스크린</PresentationFormat>
  <Paragraphs>203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맑은 고딕</vt:lpstr>
      <vt:lpstr>Arial</vt:lpstr>
      <vt:lpstr>Cambria Math</vt:lpstr>
      <vt:lpstr>Wingdings</vt:lpstr>
      <vt:lpstr>Office 테마</vt:lpstr>
      <vt:lpstr>Isaac Lab Ant 환경에서 PPO 기반 보행 정책의 Hyperparameter 및 보상 설계 분석</vt:lpstr>
      <vt:lpstr>Topic and Goal/Detail</vt:lpstr>
      <vt:lpstr>Environment &amp; Dataset</vt:lpstr>
      <vt:lpstr>Collect Data &amp; Structure</vt:lpstr>
      <vt:lpstr>State, Action, Reward</vt:lpstr>
      <vt:lpstr>State, Action, Reward</vt:lpstr>
      <vt:lpstr>State, Action, Reward</vt:lpstr>
      <vt:lpstr>PPO: Proximal Policy Optimization</vt:lpstr>
      <vt:lpstr>Hyperparameter of PPO Algorithm</vt:lpstr>
      <vt:lpstr>Hyperparameter of PPO Algorithm</vt:lpstr>
      <vt:lpstr>Experiment Setup</vt:lpstr>
      <vt:lpstr>Experiment Setup</vt:lpstr>
      <vt:lpstr>Result</vt:lpstr>
      <vt:lpstr>Result</vt:lpstr>
      <vt:lpstr>Result</vt:lpstr>
      <vt:lpstr>Result</vt:lpstr>
      <vt:lpstr>Result</vt:lpstr>
      <vt:lpstr>Result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최은규</dc:creator>
  <cp:lastModifiedBy>은규 최</cp:lastModifiedBy>
  <cp:revision>10</cp:revision>
  <dcterms:created xsi:type="dcterms:W3CDTF">2024-03-30T11:27:25Z</dcterms:created>
  <dcterms:modified xsi:type="dcterms:W3CDTF">2025-12-07T13:03:04Z</dcterms:modified>
</cp:coreProperties>
</file>